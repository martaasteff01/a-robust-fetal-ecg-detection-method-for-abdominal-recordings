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8" r:id="rId3"/>
    <p:sldId id="257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70" r:id="rId14"/>
    <p:sldId id="269" r:id="rId15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1C6F7"/>
    <a:srgbClr val="E39AFF"/>
    <a:srgbClr val="A675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Stile medio 2 - Color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Stile medio 2 - Color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A107856-5554-42FB-B03E-39F5DBC370BA}" styleName="Stile medio 4 - Colore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2D5ABB26-0587-4C30-8999-92F81FD0307C}" styleName="Nessuno stile, nessuna grigli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C083E6E3-FA7D-4D7B-A595-EF9225AFEA82}" styleName="Stile chiaro 1 - Colore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16DA210-FB5B-4158-B5E0-FEB733F419BA}" styleName="Stile chi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805"/>
    <p:restoredTop sz="94681"/>
  </p:normalViewPr>
  <p:slideViewPr>
    <p:cSldViewPr snapToGrid="0">
      <p:cViewPr>
        <p:scale>
          <a:sx n="96" d="100"/>
          <a:sy n="96" d="100"/>
        </p:scale>
        <p:origin x="920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BD570A-0BD4-3849-AA3D-C72A8F1CACF9}" type="datetimeFigureOut">
              <a:rPr lang="it-IT" smtClean="0"/>
              <a:t>04/01/26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060ABF-D484-2B4E-BF87-40DC3A6897E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23006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060ABF-D484-2B4E-BF87-40DC3A6897EC}" type="slidenum">
              <a:rPr lang="it-IT" smtClean="0"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566118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060ABF-D484-2B4E-BF87-40DC3A6897EC}" type="slidenum">
              <a:rPr lang="it-IT" smtClean="0"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596124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CE07D6-2012-256A-0CA9-D0F0BF755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678A6673-9E39-AE5C-1CE2-0FB0F83794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DE997BE8-7B51-187D-7977-99CD3BD33F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8A74B66-6B3C-8909-B068-F374572C60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060ABF-D484-2B4E-BF87-40DC3A6897EC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884099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EE5CE4-A97B-EEDE-ED8C-C41CF7AC2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D78EA347-F134-A21C-CAD0-678152AD8B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A9CE6B01-3C8C-3CF5-94A8-E93DB7D695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F5B6443-0606-5990-04B1-135ECE9458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060ABF-D484-2B4E-BF87-40DC3A6897EC}" type="slidenum">
              <a:rPr lang="it-IT" smtClean="0"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31205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3EE61A-1928-9A45-83DE-D2E6876536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3A15800D-E47A-4581-DC5A-35AAB45668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B9EF6E4E-B4C4-0F35-DFCF-B6CED9EA9B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71FA5A9-60D3-82D7-86F2-F713F338BC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060ABF-D484-2B4E-BF87-40DC3A6897EC}" type="slidenum">
              <a:rPr lang="it-IT" smtClean="0"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878135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5A354-1889-BC26-5205-A2288C400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81EEE8BB-BD9C-4627-1706-A1F08CBAF4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2FAEDF7C-5AE7-F510-312B-8F48496E8E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0D7B656-A8A1-E8FC-D298-06C70E0023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060ABF-D484-2B4E-BF87-40DC3A6897EC}" type="slidenum">
              <a:rPr lang="it-IT" smtClean="0"/>
              <a:t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997158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649B5D-6313-5F12-5211-94CBAE966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EE0D32C0-C8B6-5D26-405B-F7041BDD33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2E61685C-DDA4-A18B-72C0-333994C151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4F40C32-1754-CD49-CBDA-D49121C838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060ABF-D484-2B4E-BF87-40DC3A6897EC}" type="slidenum">
              <a:rPr lang="it-IT" smtClean="0"/>
              <a:t>11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586809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3D733-D963-BDC9-4D2A-B19A1B8FB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17509373-A9AC-D2B9-21F0-65A1203E20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677A4CAB-D4DC-993C-5AA9-D8F2243236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4F87FEF-FA94-C177-53D6-D4A00A74EB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060ABF-D484-2B4E-BF87-40DC3A6897EC}" type="slidenum">
              <a:rPr lang="it-IT" smtClean="0"/>
              <a:t>12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609206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3D733-D963-BDC9-4D2A-B19A1B8FB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17509373-A9AC-D2B9-21F0-65A1203E20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677A4CAB-D4DC-993C-5AA9-D8F2243236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4F87FEF-FA94-C177-53D6-D4A00A74EB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060ABF-D484-2B4E-BF87-40DC3A6897EC}" type="slidenum">
              <a:rPr lang="it-IT" smtClean="0"/>
              <a:t>13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947763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2E5DD8A-9832-FD47-E4DF-C1419F7263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68DBE12E-3E60-00BB-EF9E-F907EB137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67F99AE-2461-BF9A-3289-D4DC99255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7172A-06E0-A64A-B24A-829D14CE6180}" type="datetimeFigureOut">
              <a:rPr lang="it-IT" smtClean="0"/>
              <a:t>04/01/26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A666C53-F89B-A96F-709D-67818C6BE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851DC8B-2AD0-CF40-3009-CE57715A8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176E6-76EA-5145-B03F-D0E72AE6DCE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07746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0F3A11A-47D4-27C7-3FFF-346C304AA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9CC0342-E5DA-A5C0-556C-405D2B1BD5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0B3C2BB-5C59-076A-15FE-E8DE087B5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7172A-06E0-A64A-B24A-829D14CE6180}" type="datetimeFigureOut">
              <a:rPr lang="it-IT" smtClean="0"/>
              <a:t>04/01/26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7716E1B-A51A-42C3-B28F-D779ABE65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6A51913-1A33-8AC4-40C4-BE2AA44D0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176E6-76EA-5145-B03F-D0E72AE6DCE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578106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F41F7F5-6949-A1B6-9C26-688A508BB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21AD56D-78EA-E3F0-FFC1-E8652AAA07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9BE5FBF-7825-EE12-3D93-EABA4895C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7172A-06E0-A64A-B24A-829D14CE6180}" type="datetimeFigureOut">
              <a:rPr lang="it-IT" smtClean="0"/>
              <a:t>04/01/26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29A6F91-FD93-4560-9ED2-53A84A452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0C65D28-0138-ED27-6C46-6E05418C0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176E6-76EA-5145-B03F-D0E72AE6DCE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854125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966F64F-7D16-C473-F898-DB8AFE325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21ED402-F3F4-3BB6-074C-EF71D562D8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41339F8E-AE32-D49C-E381-9F73214A7C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029987A4-16E3-0786-949F-E9B249D3A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7172A-06E0-A64A-B24A-829D14CE6180}" type="datetimeFigureOut">
              <a:rPr lang="it-IT" smtClean="0"/>
              <a:t>04/01/26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2B058568-17E0-5814-09BC-A07FF243E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5FA5DA82-74B8-0BB2-9D45-5B3480A70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176E6-76EA-5145-B03F-D0E72AE6DCE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859471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FBBCC4C-5A8D-5046-21DD-136CCDF38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71161FA9-AC33-30B6-551E-9964B983BC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16164311-E29A-936D-4A02-545B174611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6F77CE86-67DB-1647-837D-9D25A7FD38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D8E98F43-CAC6-49C3-FB80-14A842B4C7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536064E0-60D2-CF3A-57E8-3382F54B0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7172A-06E0-A64A-B24A-829D14CE6180}" type="datetimeFigureOut">
              <a:rPr lang="it-IT" smtClean="0"/>
              <a:t>04/01/26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03A619AA-CA35-7DFF-84CD-5F0F19CCD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FA1F1D31-0F5E-CFEE-9342-7416AF736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176E6-76EA-5145-B03F-D0E72AE6DCE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326721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22F2180-6198-81C1-F9EB-F74578385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D965D7A7-CEC9-649A-9116-7D01FFFEF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7172A-06E0-A64A-B24A-829D14CE6180}" type="datetimeFigureOut">
              <a:rPr lang="it-IT" smtClean="0"/>
              <a:t>04/01/26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C0ADFF05-4BE0-9A50-A4AE-C3CC9C859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24975766-F106-3596-C58F-5EEC26EAB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176E6-76EA-5145-B03F-D0E72AE6DCE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122108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CA8609F4-BD60-41A2-32C2-54B0864AA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7172A-06E0-A64A-B24A-829D14CE6180}" type="datetimeFigureOut">
              <a:rPr lang="it-IT" smtClean="0"/>
              <a:t>04/01/26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9F4B8C4A-9B86-A5F5-BA04-BCEADB0CE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B3FAB8D-2C7F-6920-D7B4-AB25425CE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176E6-76EA-5145-B03F-D0E72AE6DCE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657779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8196473-494D-0C54-20A5-AB6E26540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313B213-C876-1191-604C-ECBA0FB9D4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6FC46ECD-7F0F-DA41-6446-26A2E6BFE0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5DA69A3B-66DE-0B3D-F938-ECAA565E4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7172A-06E0-A64A-B24A-829D14CE6180}" type="datetimeFigureOut">
              <a:rPr lang="it-IT" smtClean="0"/>
              <a:t>04/01/26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711DF825-AC46-C3A9-1719-EEA86F574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CC7774A-21E3-79C9-8A4B-3FC438344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176E6-76EA-5145-B03F-D0E72AE6DCE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639905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51DBB14-4793-F16F-5FF1-F90F0A197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0E85BB90-8F6D-3CF2-C9E3-A3DCBF4EDC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A52A653-2381-B975-5531-895C3A6DB5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621F6567-7A4B-B9BF-DF0A-64F31F2CC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7172A-06E0-A64A-B24A-829D14CE6180}" type="datetimeFigureOut">
              <a:rPr lang="it-IT" smtClean="0"/>
              <a:t>04/01/26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2E9008DF-347D-6F13-C796-E5AD6186D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1CF7E846-52D8-63D6-B2E4-A6535A6FE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176E6-76EA-5145-B03F-D0E72AE6DCE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171168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66AA633-2295-1EE3-C652-C168D5254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DDA567FE-8D3C-E457-ACEA-5F46DB483B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0DE6F88-EEB0-1FD6-5B9F-FEF8E90567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7172A-06E0-A64A-B24A-829D14CE6180}" type="datetimeFigureOut">
              <a:rPr lang="it-IT" smtClean="0"/>
              <a:t>04/01/26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2EACA98-9333-09D3-7A07-1EFA068AC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89E2F5A-D9F0-701F-EFAF-F7351B281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176E6-76EA-5145-B03F-D0E72AE6DCE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845639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BC05A887-03EE-5134-DC33-FCEA93909E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D3CC58C6-474B-AE8F-27FA-1035BC9FAF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B0370A0-7C45-884D-6139-710A56D48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7172A-06E0-A64A-B24A-829D14CE6180}" type="datetimeFigureOut">
              <a:rPr lang="it-IT" smtClean="0"/>
              <a:t>04/01/26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C753EA1-FC39-F5C1-037F-C15BF1F2F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E647DBA-2739-F815-DE9D-031C572DE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176E6-76EA-5145-B03F-D0E72AE6DCE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794083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3C988C19-4DD4-2680-D03C-F727022E2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65682C81-CB84-ACDB-7A68-19FEFB2EF4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995F0C1-033B-3959-CA55-F4B46C0150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77172A-06E0-A64A-B24A-829D14CE6180}" type="datetimeFigureOut">
              <a:rPr lang="it-IT" smtClean="0"/>
              <a:t>04/01/26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8287E54-221D-8D71-0947-C0306690AC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8F54496-D03C-4756-7D3F-C65733FA22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1176E6-76EA-5145-B03F-D0E72AE6DCE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56120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physionet.org/content/challenge-2013/1.0.0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microsoft.com/office/2007/relationships/media" Target="../media/media2.wav"/><Relationship Id="rId7" Type="http://schemas.openxmlformats.org/officeDocument/2006/relationships/image" Target="../media/image15.png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2.xml"/><Relationship Id="rId4" Type="http://schemas.openxmlformats.org/officeDocument/2006/relationships/audio" Target="../media/media2.wav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ELETTROCARDIOGRAMMA - Farmacia Panteghini">
            <a:extLst>
              <a:ext uri="{FF2B5EF4-FFF2-40B4-BE49-F238E27FC236}">
                <a16:creationId xmlns:a16="http://schemas.microsoft.com/office/drawing/2014/main" id="{4DEFCCD8-8C12-C779-933A-7698F0DF59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1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ttangolo 5">
            <a:extLst>
              <a:ext uri="{FF2B5EF4-FFF2-40B4-BE49-F238E27FC236}">
                <a16:creationId xmlns:a16="http://schemas.microsoft.com/office/drawing/2014/main" id="{0870CACB-BFB7-7074-B04D-11D7BFE58D72}"/>
              </a:ext>
            </a:extLst>
          </p:cNvPr>
          <p:cNvSpPr/>
          <p:nvPr/>
        </p:nvSpPr>
        <p:spPr>
          <a:xfrm>
            <a:off x="400049" y="4657210"/>
            <a:ext cx="11391900" cy="719468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3B5EE258-D032-DC55-D101-0B9AD17BA6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997621"/>
            <a:ext cx="9144000" cy="2387600"/>
          </a:xfrm>
        </p:spPr>
        <p:txBody>
          <a:bodyPr>
            <a:normAutofit/>
          </a:bodyPr>
          <a:lstStyle/>
          <a:p>
            <a:r>
              <a:rPr lang="en-GB" sz="4800" noProof="0" dirty="0">
                <a:solidFill>
                  <a:schemeClr val="bg2">
                    <a:lumMod val="25000"/>
                  </a:schemeClr>
                </a:solidFill>
                <a:latin typeface="Bookman Old Style" panose="02050604050505020204" pitchFamily="18" charset="0"/>
              </a:rPr>
              <a:t>A robust </a:t>
            </a:r>
            <a:r>
              <a:rPr lang="en-GB" sz="4800" noProof="0" dirty="0" err="1">
                <a:solidFill>
                  <a:schemeClr val="bg2">
                    <a:lumMod val="25000"/>
                  </a:schemeClr>
                </a:solidFill>
                <a:latin typeface="Bookman Old Style" panose="02050604050505020204" pitchFamily="18" charset="0"/>
              </a:rPr>
              <a:t>fetal</a:t>
            </a:r>
            <a:r>
              <a:rPr lang="en-GB" sz="4800" noProof="0" dirty="0">
                <a:solidFill>
                  <a:schemeClr val="bg2">
                    <a:lumMod val="25000"/>
                  </a:schemeClr>
                </a:solidFill>
                <a:latin typeface="Bookman Old Style" panose="02050604050505020204" pitchFamily="18" charset="0"/>
              </a:rPr>
              <a:t> ECG detection method for abdominal recordings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165BC589-D66A-5125-11F3-A0684A5D1C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8" y="4839834"/>
            <a:ext cx="9144000" cy="536844"/>
          </a:xfrm>
        </p:spPr>
        <p:txBody>
          <a:bodyPr/>
          <a:lstStyle/>
          <a:p>
            <a:r>
              <a:rPr lang="en-GB" noProof="0" dirty="0">
                <a:solidFill>
                  <a:schemeClr val="bg1"/>
                </a:solidFill>
                <a:latin typeface="Bookman Old Style" panose="02050604050505020204" pitchFamily="18" charset="0"/>
              </a:rPr>
              <a:t>Marta Stefanelli – 84393A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FA9039C7-F7E8-BC4E-AC36-DC4108AF16C0}"/>
              </a:ext>
            </a:extLst>
          </p:cNvPr>
          <p:cNvSpPr txBox="1"/>
          <p:nvPr/>
        </p:nvSpPr>
        <p:spPr>
          <a:xfrm>
            <a:off x="636493" y="3759605"/>
            <a:ext cx="109190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i="1" dirty="0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</a:rPr>
              <a:t>S. M. M. Martens, C. </a:t>
            </a:r>
            <a:r>
              <a:rPr lang="it-IT" sz="1400" i="1" dirty="0" err="1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</a:rPr>
              <a:t>Rabotti</a:t>
            </a:r>
            <a:r>
              <a:rPr lang="it-IT" sz="1400" i="1" dirty="0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</a:rPr>
              <a:t>, M. Mischi and </a:t>
            </a:r>
            <a:r>
              <a:rPr lang="it-IT" sz="1400" i="1" dirty="0" err="1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</a:rPr>
              <a:t>R</a:t>
            </a:r>
            <a:r>
              <a:rPr lang="it-IT" sz="1400" i="1" dirty="0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</a:rPr>
              <a:t>. </a:t>
            </a:r>
            <a:r>
              <a:rPr lang="it-IT" sz="1400" i="1" dirty="0" err="1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</a:rPr>
              <a:t>J</a:t>
            </a:r>
            <a:r>
              <a:rPr lang="it-IT" sz="1400" i="1" dirty="0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</a:rPr>
              <a:t>. </a:t>
            </a:r>
            <a:r>
              <a:rPr lang="it-IT" sz="1400" i="1" dirty="0" err="1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</a:rPr>
              <a:t>Sluijter</a:t>
            </a:r>
            <a:r>
              <a:rPr lang="it-IT" sz="1400" i="1" dirty="0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</a:rPr>
              <a:t>, A </a:t>
            </a:r>
            <a:r>
              <a:rPr lang="it-IT" sz="1400" i="1" dirty="0" err="1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</a:rPr>
              <a:t>robust</a:t>
            </a:r>
            <a:r>
              <a:rPr lang="it-IT" sz="1400" i="1" dirty="0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</a:rPr>
              <a:t> </a:t>
            </a:r>
            <a:r>
              <a:rPr lang="it-IT" sz="1400" i="1" dirty="0" err="1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</a:rPr>
              <a:t>fetal</a:t>
            </a:r>
            <a:r>
              <a:rPr lang="it-IT" sz="1400" i="1" dirty="0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</a:rPr>
              <a:t> ECG detection </a:t>
            </a:r>
            <a:r>
              <a:rPr lang="it-IT" sz="1400" i="1" dirty="0" err="1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</a:rPr>
              <a:t>method</a:t>
            </a:r>
            <a:r>
              <a:rPr lang="it-IT" sz="1400" i="1" dirty="0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</a:rPr>
              <a:t> for </a:t>
            </a:r>
            <a:r>
              <a:rPr lang="it-IT" sz="1400" i="1" dirty="0" err="1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</a:rPr>
              <a:t>abdominal</a:t>
            </a:r>
            <a:r>
              <a:rPr lang="it-IT" sz="1400" i="1" dirty="0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</a:rPr>
              <a:t> recordings, </a:t>
            </a:r>
            <a:r>
              <a:rPr lang="it-IT" sz="1400" i="1" dirty="0" err="1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</a:rPr>
              <a:t>Physiological</a:t>
            </a:r>
            <a:r>
              <a:rPr lang="it-IT" sz="1400" i="1" dirty="0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</a:rPr>
              <a:t> </a:t>
            </a:r>
            <a:r>
              <a:rPr lang="it-IT" sz="1400" i="1" dirty="0" err="1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</a:rPr>
              <a:t>Measurement</a:t>
            </a:r>
            <a:r>
              <a:rPr lang="it-IT" sz="1400" i="1" dirty="0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</a:rPr>
              <a:t>, 28, 373, 2007</a:t>
            </a:r>
          </a:p>
        </p:txBody>
      </p:sp>
    </p:spTree>
    <p:extLst>
      <p:ext uri="{BB962C8B-B14F-4D97-AF65-F5344CB8AC3E}">
        <p14:creationId xmlns:p14="http://schemas.microsoft.com/office/powerpoint/2010/main" val="3745637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7ECC30-9FC1-CDBB-7CD4-D3D6C34A2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ttangolo 19">
            <a:extLst>
              <a:ext uri="{FF2B5EF4-FFF2-40B4-BE49-F238E27FC236}">
                <a16:creationId xmlns:a16="http://schemas.microsoft.com/office/drawing/2014/main" id="{2CB509DB-F0DD-C6FE-A1A6-AA79ABFFBAEF}"/>
              </a:ext>
            </a:extLst>
          </p:cNvPr>
          <p:cNvSpPr/>
          <p:nvPr/>
        </p:nvSpPr>
        <p:spPr>
          <a:xfrm>
            <a:off x="0" y="2045561"/>
            <a:ext cx="12192000" cy="458925"/>
          </a:xfrm>
          <a:prstGeom prst="rect">
            <a:avLst/>
          </a:prstGeom>
          <a:solidFill>
            <a:srgbClr val="91C6F7">
              <a:alpha val="6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8312F3AF-E753-9769-4C69-F5FE13AA51BE}"/>
              </a:ext>
            </a:extLst>
          </p:cNvPr>
          <p:cNvSpPr/>
          <p:nvPr/>
        </p:nvSpPr>
        <p:spPr>
          <a:xfrm>
            <a:off x="368300" y="353641"/>
            <a:ext cx="11391900" cy="8240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3C9C82B2-7CF7-D8A2-205E-1AFDE91EC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2272"/>
            <a:ext cx="4042558" cy="1158875"/>
          </a:xfrm>
        </p:spPr>
        <p:txBody>
          <a:bodyPr>
            <a:normAutofit/>
          </a:bodyPr>
          <a:lstStyle/>
          <a:p>
            <a:r>
              <a:rPr lang="en-GB" noProof="0" dirty="0">
                <a:solidFill>
                  <a:schemeClr val="bg1"/>
                </a:solidFill>
                <a:latin typeface="Bookman Old Style" panose="02050604050505020204" pitchFamily="18" charset="0"/>
              </a:rPr>
              <a:t>The dataset</a:t>
            </a:r>
          </a:p>
        </p:txBody>
      </p:sp>
      <p:cxnSp>
        <p:nvCxnSpPr>
          <p:cNvPr id="9" name="Connettore dritto 8">
            <a:extLst>
              <a:ext uri="{FF2B5EF4-FFF2-40B4-BE49-F238E27FC236}">
                <a16:creationId xmlns:a16="http://schemas.microsoft.com/office/drawing/2014/main" id="{41355E0C-7A64-83A5-C7C6-0456E14EA1C1}"/>
              </a:ext>
            </a:extLst>
          </p:cNvPr>
          <p:cNvCxnSpPr>
            <a:cxnSpLocks/>
          </p:cNvCxnSpPr>
          <p:nvPr/>
        </p:nvCxnSpPr>
        <p:spPr>
          <a:xfrm flipV="1">
            <a:off x="400050" y="6377357"/>
            <a:ext cx="11391900" cy="4012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66CBD958-41CF-3E68-310D-61C093AF1B99}"/>
              </a:ext>
            </a:extLst>
          </p:cNvPr>
          <p:cNvSpPr txBox="1"/>
          <p:nvPr/>
        </p:nvSpPr>
        <p:spPr>
          <a:xfrm>
            <a:off x="10796475" y="6439045"/>
            <a:ext cx="9637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</a:rPr>
              <a:t>1</a:t>
            </a:r>
            <a:r>
              <a:rPr lang="en-GB" noProof="0" dirty="0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</a:rPr>
              <a:t> of 10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4E6EFC47-4BAF-E032-465E-B3F01684038B}"/>
              </a:ext>
            </a:extLst>
          </p:cNvPr>
          <p:cNvSpPr txBox="1"/>
          <p:nvPr/>
        </p:nvSpPr>
        <p:spPr>
          <a:xfrm>
            <a:off x="838200" y="1315531"/>
            <a:ext cx="106553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i="1" noProof="0" dirty="0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</a:rPr>
              <a:t>Set-A</a:t>
            </a:r>
            <a:r>
              <a:rPr lang="en-GB" sz="2800" noProof="0" dirty="0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</a:rPr>
              <a:t> from </a:t>
            </a:r>
            <a:r>
              <a:rPr lang="en-GB" sz="2800" noProof="0" dirty="0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  <a:hlinkClick r:id="rId2"/>
              </a:rPr>
              <a:t>Physionet.org</a:t>
            </a:r>
            <a:r>
              <a:rPr lang="en-GB" sz="2800" noProof="0" dirty="0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</a:rPr>
              <a:t>, </a:t>
            </a:r>
            <a:r>
              <a:rPr lang="en-GB" sz="2800" dirty="0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</a:rPr>
              <a:t>all the plot are related to </a:t>
            </a:r>
            <a:r>
              <a:rPr lang="en-GB" sz="2800" i="1" dirty="0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</a:rPr>
              <a:t>a14</a:t>
            </a:r>
            <a:r>
              <a:rPr lang="en-GB" sz="2800" dirty="0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</a:rPr>
              <a:t>.</a:t>
            </a:r>
            <a:endParaRPr lang="en-GB" sz="2800" noProof="0" dirty="0">
              <a:solidFill>
                <a:schemeClr val="tx2">
                  <a:lumMod val="75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B271DA83-8D75-8095-D4E3-43F7A5EFBC32}"/>
              </a:ext>
            </a:extLst>
          </p:cNvPr>
          <p:cNvSpPr txBox="1"/>
          <p:nvPr/>
        </p:nvSpPr>
        <p:spPr>
          <a:xfrm>
            <a:off x="838200" y="1986118"/>
            <a:ext cx="2044149" cy="5017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000" noProof="0" dirty="0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</a:rPr>
              <a:t>1. ECG signals</a:t>
            </a:r>
          </a:p>
        </p:txBody>
      </p:sp>
      <p:pic>
        <p:nvPicPr>
          <p:cNvPr id="29" name="Immagine 28" descr="Immagine che contiene linea, Diagramma, schermata&#10;&#10;Il contenuto generato dall'IA potrebbe non essere corretto.">
            <a:extLst>
              <a:ext uri="{FF2B5EF4-FFF2-40B4-BE49-F238E27FC236}">
                <a16:creationId xmlns:a16="http://schemas.microsoft.com/office/drawing/2014/main" id="{8E9BE593-071D-F137-70C7-73E474C4C6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00" y="2662867"/>
            <a:ext cx="9315251" cy="1928673"/>
          </a:xfrm>
          <a:prstGeom prst="rect">
            <a:avLst/>
          </a:prstGeom>
        </p:spPr>
      </p:pic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C5482290-510B-FEE0-4561-C5E49BFB1D39}"/>
              </a:ext>
            </a:extLst>
          </p:cNvPr>
          <p:cNvSpPr txBox="1"/>
          <p:nvPr/>
        </p:nvSpPr>
        <p:spPr>
          <a:xfrm>
            <a:off x="9683551" y="2958278"/>
            <a:ext cx="2508449" cy="11187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GB" noProof="0" dirty="0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</a:rPr>
              <a:t>Duration = 1 min</a:t>
            </a:r>
          </a:p>
          <a:p>
            <a:pPr>
              <a:lnSpc>
                <a:spcPct val="200000"/>
              </a:lnSpc>
            </a:pPr>
            <a:r>
              <a:rPr lang="en-GB" dirty="0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</a:rPr>
              <a:t>F</a:t>
            </a:r>
            <a:r>
              <a:rPr lang="en-GB" baseline="-25000" dirty="0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</a:rPr>
              <a:t>s</a:t>
            </a:r>
            <a:r>
              <a:rPr lang="en-GB" dirty="0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</a:rPr>
              <a:t> </a:t>
            </a:r>
            <a:r>
              <a:rPr lang="en-GB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</a:rPr>
              <a:t>= 1000 </a:t>
            </a:r>
            <a:r>
              <a:rPr lang="en-GB" dirty="0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</a:rPr>
              <a:t>Hz</a:t>
            </a:r>
            <a:endParaRPr lang="en-GB" noProof="0" dirty="0">
              <a:solidFill>
                <a:schemeClr val="tx2">
                  <a:lumMod val="75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32" name="Rettangolo 31">
            <a:extLst>
              <a:ext uri="{FF2B5EF4-FFF2-40B4-BE49-F238E27FC236}">
                <a16:creationId xmlns:a16="http://schemas.microsoft.com/office/drawing/2014/main" id="{DD2C5DAA-F906-5AA5-36B0-E3725372CAE7}"/>
              </a:ext>
            </a:extLst>
          </p:cNvPr>
          <p:cNvSpPr/>
          <p:nvPr/>
        </p:nvSpPr>
        <p:spPr>
          <a:xfrm>
            <a:off x="0" y="4742717"/>
            <a:ext cx="12192000" cy="469938"/>
          </a:xfrm>
          <a:prstGeom prst="rect">
            <a:avLst/>
          </a:prstGeom>
          <a:solidFill>
            <a:srgbClr val="91C6F7">
              <a:alpha val="6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33" name="CasellaDiTesto 32">
            <a:extLst>
              <a:ext uri="{FF2B5EF4-FFF2-40B4-BE49-F238E27FC236}">
                <a16:creationId xmlns:a16="http://schemas.microsoft.com/office/drawing/2014/main" id="{683E961B-075E-D38B-7E25-E186CDAF8FC4}"/>
              </a:ext>
            </a:extLst>
          </p:cNvPr>
          <p:cNvSpPr txBox="1"/>
          <p:nvPr/>
        </p:nvSpPr>
        <p:spPr>
          <a:xfrm>
            <a:off x="838200" y="4668221"/>
            <a:ext cx="2517036" cy="5017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000" noProof="0" dirty="0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</a:rPr>
              <a:t>2. QRS annotation</a:t>
            </a:r>
          </a:p>
        </p:txBody>
      </p:sp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C210F421-7B02-6158-F80A-96ECD07FACAA}"/>
              </a:ext>
            </a:extLst>
          </p:cNvPr>
          <p:cNvSpPr txBox="1"/>
          <p:nvPr/>
        </p:nvSpPr>
        <p:spPr>
          <a:xfrm>
            <a:off x="368299" y="5426197"/>
            <a:ext cx="104281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noProof="0" dirty="0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</a:rPr>
              <a:t>It is composed of a sequence of numbers that correspond to the positions, in milliseconds, of the </a:t>
            </a:r>
            <a:r>
              <a:rPr lang="en-GB" b="1" noProof="0" dirty="0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</a:rPr>
              <a:t>true FQRS peaks</a:t>
            </a:r>
            <a:r>
              <a:rPr lang="en-GB" noProof="0" dirty="0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433328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tangolo 12">
            <a:extLst>
              <a:ext uri="{FF2B5EF4-FFF2-40B4-BE49-F238E27FC236}">
                <a16:creationId xmlns:a16="http://schemas.microsoft.com/office/drawing/2014/main" id="{5C1028BB-C209-A863-2264-325677BA14F1}"/>
              </a:ext>
            </a:extLst>
          </p:cNvPr>
          <p:cNvSpPr/>
          <p:nvPr/>
        </p:nvSpPr>
        <p:spPr>
          <a:xfrm>
            <a:off x="368300" y="353641"/>
            <a:ext cx="11391900" cy="8240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031DBC10-838F-1371-E3A7-4BA8C81560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2272"/>
            <a:ext cx="3035300" cy="1158875"/>
          </a:xfrm>
        </p:spPr>
        <p:txBody>
          <a:bodyPr/>
          <a:lstStyle/>
          <a:p>
            <a:r>
              <a:rPr lang="en-GB" noProof="0" dirty="0">
                <a:solidFill>
                  <a:schemeClr val="bg1"/>
                </a:solidFill>
                <a:latin typeface="Bookman Old Style" panose="02050604050505020204" pitchFamily="18" charset="0"/>
              </a:rPr>
              <a:t>The paper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364101F3-AFA1-CEF8-A8BC-2799DABA3E4A}"/>
              </a:ext>
            </a:extLst>
          </p:cNvPr>
          <p:cNvSpPr txBox="1"/>
          <p:nvPr/>
        </p:nvSpPr>
        <p:spPr>
          <a:xfrm>
            <a:off x="588973" y="2138039"/>
            <a:ext cx="4984534" cy="32717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GB" sz="2000" noProof="0" dirty="0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</a:rPr>
              <a:t>Baseline wander removal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GB" sz="2000" noProof="0" dirty="0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</a:rPr>
              <a:t>Power line interference canceller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GB" sz="2000" noProof="0" dirty="0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</a:rPr>
              <a:t>Upsampling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GB" sz="2000" noProof="0" dirty="0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</a:rPr>
              <a:t>MQRS detection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GB" sz="2000" noProof="0" dirty="0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</a:rPr>
              <a:t>MECG canceller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GB" sz="2000" noProof="0" dirty="0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</a:rPr>
              <a:t>FQRS detection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GB" sz="2000" noProof="0" dirty="0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</a:rPr>
              <a:t>FECG </a:t>
            </a:r>
            <a:r>
              <a:rPr lang="en-GB" sz="2000" noProof="0" dirty="0" err="1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</a:rPr>
              <a:t>deteciton</a:t>
            </a:r>
            <a:endParaRPr lang="en-GB" sz="2000" noProof="0" dirty="0">
              <a:solidFill>
                <a:schemeClr val="tx2">
                  <a:lumMod val="75000"/>
                </a:schemeClr>
              </a:solidFill>
              <a:latin typeface="Bookman Old Style" panose="02050604050505020204" pitchFamily="18" charset="0"/>
            </a:endParaRPr>
          </a:p>
        </p:txBody>
      </p:sp>
      <p:pic>
        <p:nvPicPr>
          <p:cNvPr id="7" name="Immagine 6" descr="Immagine che contiene testo, diagramma, Carattere, schizzo&#10;&#10;Il contenuto generato dall'IA potrebbe non essere corretto.">
            <a:extLst>
              <a:ext uri="{FF2B5EF4-FFF2-40B4-BE49-F238E27FC236}">
                <a16:creationId xmlns:a16="http://schemas.microsoft.com/office/drawing/2014/main" id="{ABC881A2-20FE-5991-6762-79BD1A50C9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2963" y="2740170"/>
            <a:ext cx="6303479" cy="2067466"/>
          </a:xfrm>
          <a:prstGeom prst="rect">
            <a:avLst/>
          </a:prstGeom>
        </p:spPr>
      </p:pic>
      <p:cxnSp>
        <p:nvCxnSpPr>
          <p:cNvPr id="9" name="Connettore dritto 8">
            <a:extLst>
              <a:ext uri="{FF2B5EF4-FFF2-40B4-BE49-F238E27FC236}">
                <a16:creationId xmlns:a16="http://schemas.microsoft.com/office/drawing/2014/main" id="{F9ADD937-A38B-D1E8-9891-207CD06738B3}"/>
              </a:ext>
            </a:extLst>
          </p:cNvPr>
          <p:cNvCxnSpPr>
            <a:cxnSpLocks/>
          </p:cNvCxnSpPr>
          <p:nvPr/>
        </p:nvCxnSpPr>
        <p:spPr>
          <a:xfrm flipV="1">
            <a:off x="400050" y="6377357"/>
            <a:ext cx="11391900" cy="4012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Rettangolo 13">
            <a:extLst>
              <a:ext uri="{FF2B5EF4-FFF2-40B4-BE49-F238E27FC236}">
                <a16:creationId xmlns:a16="http://schemas.microsoft.com/office/drawing/2014/main" id="{F8F20824-49FE-B9E0-CF6D-F37D3FE36C70}"/>
              </a:ext>
            </a:extLst>
          </p:cNvPr>
          <p:cNvSpPr/>
          <p:nvPr/>
        </p:nvSpPr>
        <p:spPr>
          <a:xfrm>
            <a:off x="5244353" y="2138039"/>
            <a:ext cx="6547596" cy="3271730"/>
          </a:xfrm>
          <a:prstGeom prst="rect">
            <a:avLst/>
          </a:prstGeom>
          <a:noFill/>
          <a:ln w="28575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D2DC4042-7D7E-9F6B-9152-9079D206E616}"/>
              </a:ext>
            </a:extLst>
          </p:cNvPr>
          <p:cNvSpPr txBox="1"/>
          <p:nvPr/>
        </p:nvSpPr>
        <p:spPr>
          <a:xfrm>
            <a:off x="10796475" y="6439045"/>
            <a:ext cx="9637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</a:rPr>
              <a:t>2</a:t>
            </a:r>
            <a:r>
              <a:rPr lang="en-GB" noProof="0" dirty="0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</a:rPr>
              <a:t> </a:t>
            </a:r>
            <a:r>
              <a:rPr lang="en-GB" noProof="0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</a:rPr>
              <a:t>of 10</a:t>
            </a:r>
            <a:endParaRPr lang="en-GB" noProof="0" dirty="0">
              <a:solidFill>
                <a:schemeClr val="tx2">
                  <a:lumMod val="75000"/>
                </a:schemeClr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7494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9BAFF8-2D4D-3D2F-01A5-010F42BF0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ttangolo 18">
            <a:extLst>
              <a:ext uri="{FF2B5EF4-FFF2-40B4-BE49-F238E27FC236}">
                <a16:creationId xmlns:a16="http://schemas.microsoft.com/office/drawing/2014/main" id="{7C88DF35-50A6-3A82-E8D9-640C3675D923}"/>
              </a:ext>
            </a:extLst>
          </p:cNvPr>
          <p:cNvSpPr/>
          <p:nvPr/>
        </p:nvSpPr>
        <p:spPr>
          <a:xfrm>
            <a:off x="0" y="2294176"/>
            <a:ext cx="12192000" cy="1319459"/>
          </a:xfrm>
          <a:prstGeom prst="rect">
            <a:avLst/>
          </a:prstGeom>
          <a:solidFill>
            <a:srgbClr val="91C6F7">
              <a:alpha val="6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F841A0BB-0C8D-033D-0431-5D8854306733}"/>
              </a:ext>
            </a:extLst>
          </p:cNvPr>
          <p:cNvSpPr/>
          <p:nvPr/>
        </p:nvSpPr>
        <p:spPr>
          <a:xfrm>
            <a:off x="368300" y="353641"/>
            <a:ext cx="11391900" cy="8240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5EDB8524-1CB4-7C0A-C352-D4F02AF7B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192272"/>
            <a:ext cx="10922002" cy="1158875"/>
          </a:xfrm>
        </p:spPr>
        <p:txBody>
          <a:bodyPr>
            <a:normAutofit/>
          </a:bodyPr>
          <a:lstStyle/>
          <a:p>
            <a:r>
              <a:rPr lang="en-GB" noProof="0" dirty="0">
                <a:solidFill>
                  <a:schemeClr val="bg1"/>
                </a:solidFill>
                <a:latin typeface="Bookman Old Style" panose="02050604050505020204" pitchFamily="18" charset="0"/>
              </a:rPr>
              <a:t>1. Baseline wander removal	</a:t>
            </a:r>
          </a:p>
        </p:txBody>
      </p:sp>
      <p:pic>
        <p:nvPicPr>
          <p:cNvPr id="7" name="Immagine 6" descr="Immagine che contiene testo, diagramma, Carattere, schizzo&#10;&#10;Il contenuto generato dall'IA potrebbe non essere corretto.">
            <a:extLst>
              <a:ext uri="{FF2B5EF4-FFF2-40B4-BE49-F238E27FC236}">
                <a16:creationId xmlns:a16="http://schemas.microsoft.com/office/drawing/2014/main" id="{335A6AD3-A5FC-5018-7E22-7657BC50B72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4643" b="52420"/>
          <a:stretch>
            <a:fillRect/>
          </a:stretch>
        </p:blipFill>
        <p:spPr>
          <a:xfrm>
            <a:off x="10299231" y="243319"/>
            <a:ext cx="1718597" cy="1057681"/>
          </a:xfrm>
          <a:prstGeom prst="rect">
            <a:avLst/>
          </a:prstGeom>
          <a:ln w="19050">
            <a:solidFill>
              <a:schemeClr val="tx2">
                <a:lumMod val="75000"/>
              </a:schemeClr>
            </a:solidFill>
          </a:ln>
        </p:spPr>
      </p:pic>
      <p:cxnSp>
        <p:nvCxnSpPr>
          <p:cNvPr id="9" name="Connettore dritto 8">
            <a:extLst>
              <a:ext uri="{FF2B5EF4-FFF2-40B4-BE49-F238E27FC236}">
                <a16:creationId xmlns:a16="http://schemas.microsoft.com/office/drawing/2014/main" id="{B1C7BC58-2F0A-FE3A-417D-D740AC8C4C87}"/>
              </a:ext>
            </a:extLst>
          </p:cNvPr>
          <p:cNvCxnSpPr>
            <a:cxnSpLocks/>
          </p:cNvCxnSpPr>
          <p:nvPr/>
        </p:nvCxnSpPr>
        <p:spPr>
          <a:xfrm flipV="1">
            <a:off x="400050" y="6377357"/>
            <a:ext cx="11391900" cy="4012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A1AA8FA0-C28B-9797-4F98-3D601F649964}"/>
              </a:ext>
            </a:extLst>
          </p:cNvPr>
          <p:cNvSpPr txBox="1"/>
          <p:nvPr/>
        </p:nvSpPr>
        <p:spPr>
          <a:xfrm>
            <a:off x="10796475" y="6439045"/>
            <a:ext cx="9637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noProof="0" dirty="0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</a:rPr>
              <a:t>3 </a:t>
            </a:r>
            <a:r>
              <a:rPr lang="en-GB" noProof="0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</a:rPr>
              <a:t>of 10</a:t>
            </a:r>
            <a:endParaRPr lang="en-GB" noProof="0" dirty="0">
              <a:solidFill>
                <a:schemeClr val="tx2">
                  <a:lumMod val="75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01FA8EFD-C305-43E8-D0FA-2106B1305B37}"/>
              </a:ext>
            </a:extLst>
          </p:cNvPr>
          <p:cNvSpPr txBox="1"/>
          <p:nvPr/>
        </p:nvSpPr>
        <p:spPr>
          <a:xfrm>
            <a:off x="368300" y="1339087"/>
            <a:ext cx="10470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noProof="0" dirty="0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</a:rPr>
              <a:t>S1 -&gt; S2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7B7D873D-A80B-87F8-499C-E385213351FC}"/>
              </a:ext>
            </a:extLst>
          </p:cNvPr>
          <p:cNvSpPr txBox="1"/>
          <p:nvPr/>
        </p:nvSpPr>
        <p:spPr>
          <a:xfrm>
            <a:off x="431800" y="2366367"/>
            <a:ext cx="78413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noProof="0" dirty="0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</a:rPr>
              <a:t>Cause</a:t>
            </a:r>
            <a:r>
              <a:rPr lang="en-GB" sz="2400" noProof="0" dirty="0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</a:rPr>
              <a:t>: </a:t>
            </a:r>
            <a:r>
              <a:rPr lang="en-GB" sz="2400" i="1" noProof="0" dirty="0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</a:rPr>
              <a:t>movement</a:t>
            </a:r>
            <a:r>
              <a:rPr lang="en-GB" sz="2400" noProof="0" dirty="0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</a:rPr>
              <a:t> and </a:t>
            </a:r>
            <a:r>
              <a:rPr lang="en-GB" sz="2400" i="1" noProof="0" dirty="0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</a:rPr>
              <a:t>respiration</a:t>
            </a:r>
            <a:r>
              <a:rPr lang="en-GB" sz="2400" noProof="0" dirty="0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</a:rPr>
              <a:t> of the patient.</a:t>
            </a:r>
          </a:p>
        </p:txBody>
      </p:sp>
      <p:pic>
        <p:nvPicPr>
          <p:cNvPr id="15" name="Immagine 14" descr="Immagine che contiene testo, ricevuta, linea, schermata&#10;&#10;Il contenuto generato dall'IA potrebbe non essere corretto.">
            <a:extLst>
              <a:ext uri="{FF2B5EF4-FFF2-40B4-BE49-F238E27FC236}">
                <a16:creationId xmlns:a16="http://schemas.microsoft.com/office/drawing/2014/main" id="{1D9DB4E2-63CB-1D1F-AD26-F6B2B4B7CA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420" y="3974098"/>
            <a:ext cx="5847927" cy="1706538"/>
          </a:xfrm>
          <a:prstGeom prst="rect">
            <a:avLst/>
          </a:prstGeom>
        </p:spPr>
      </p:pic>
      <p:pic>
        <p:nvPicPr>
          <p:cNvPr id="17" name="Immagine 16" descr="Immagine che contiene ricevuta, linea, Diagramma, testo&#10;&#10;Il contenuto generato dall'IA potrebbe non essere corretto.">
            <a:extLst>
              <a:ext uri="{FF2B5EF4-FFF2-40B4-BE49-F238E27FC236}">
                <a16:creationId xmlns:a16="http://schemas.microsoft.com/office/drawing/2014/main" id="{03FB7029-9C34-F464-E0EF-B652BCC868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5347" y="3945260"/>
            <a:ext cx="5911919" cy="1764214"/>
          </a:xfrm>
          <a:prstGeom prst="rect">
            <a:avLst/>
          </a:prstGeom>
        </p:spPr>
      </p:pic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237DE397-8018-E8BB-A944-807058B801D5}"/>
              </a:ext>
            </a:extLst>
          </p:cNvPr>
          <p:cNvSpPr txBox="1"/>
          <p:nvPr/>
        </p:nvSpPr>
        <p:spPr>
          <a:xfrm>
            <a:off x="417286" y="3029741"/>
            <a:ext cx="96616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</a:rPr>
              <a:t>Solution</a:t>
            </a:r>
            <a:r>
              <a:rPr lang="en-GB" sz="2400" dirty="0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</a:rPr>
              <a:t>: </a:t>
            </a:r>
            <a:r>
              <a:rPr lang="en-GB" sz="2400" i="1" dirty="0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</a:rPr>
              <a:t>FIR</a:t>
            </a:r>
            <a:r>
              <a:rPr lang="en-GB" sz="2400" dirty="0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</a:rPr>
              <a:t> </a:t>
            </a:r>
            <a:r>
              <a:rPr lang="en-GB" sz="2400" i="1" dirty="0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</a:rPr>
              <a:t>high-pass filter </a:t>
            </a:r>
            <a:r>
              <a:rPr lang="en-GB" sz="2400" dirty="0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</a:rPr>
              <a:t>with a cut-off frequency at 3 Hz.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F2BEF691-65A3-F390-88CC-E17E145F75A1}"/>
              </a:ext>
            </a:extLst>
          </p:cNvPr>
          <p:cNvSpPr/>
          <p:nvPr/>
        </p:nvSpPr>
        <p:spPr>
          <a:xfrm>
            <a:off x="97420" y="3945260"/>
            <a:ext cx="11985724" cy="1764214"/>
          </a:xfrm>
          <a:prstGeom prst="rect">
            <a:avLst/>
          </a:prstGeom>
          <a:noFill/>
          <a:ln w="28575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937268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8B4B66-34FF-7BDE-B7D5-DD2029D62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tangolo 12">
            <a:extLst>
              <a:ext uri="{FF2B5EF4-FFF2-40B4-BE49-F238E27FC236}">
                <a16:creationId xmlns:a16="http://schemas.microsoft.com/office/drawing/2014/main" id="{2472DAF5-4C7B-D974-0C30-1F082888D001}"/>
              </a:ext>
            </a:extLst>
          </p:cNvPr>
          <p:cNvSpPr/>
          <p:nvPr/>
        </p:nvSpPr>
        <p:spPr>
          <a:xfrm>
            <a:off x="368300" y="353641"/>
            <a:ext cx="11391900" cy="8240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FB06F291-8706-55DB-2577-E9C3C01E8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747" y="224482"/>
            <a:ext cx="10922002" cy="1158875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bg1"/>
                </a:solidFill>
                <a:latin typeface="Bookman Old Style" panose="02050604050505020204" pitchFamily="18" charset="0"/>
              </a:rPr>
              <a:t>2</a:t>
            </a:r>
            <a:r>
              <a:rPr lang="en-GB" noProof="0" dirty="0">
                <a:solidFill>
                  <a:schemeClr val="bg1"/>
                </a:solidFill>
                <a:latin typeface="Bookman Old Style" panose="02050604050505020204" pitchFamily="18" charset="0"/>
              </a:rPr>
              <a:t>. </a:t>
            </a:r>
            <a:r>
              <a:rPr lang="en-GB" dirty="0">
                <a:solidFill>
                  <a:schemeClr val="bg1"/>
                </a:solidFill>
                <a:latin typeface="Bookman Old Style" panose="02050604050505020204" pitchFamily="18" charset="0"/>
              </a:rPr>
              <a:t>Power line interference canceller</a:t>
            </a:r>
            <a:endParaRPr lang="en-GB" noProof="0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  <p:pic>
        <p:nvPicPr>
          <p:cNvPr id="7" name="Immagine 6" descr="Immagine che contiene testo, diagramma, Carattere, schizzo&#10;&#10;Il contenuto generato dall'IA potrebbe non essere corretto.">
            <a:extLst>
              <a:ext uri="{FF2B5EF4-FFF2-40B4-BE49-F238E27FC236}">
                <a16:creationId xmlns:a16="http://schemas.microsoft.com/office/drawing/2014/main" id="{DB61A677-1C42-69A1-0DBA-2833BFDD9AF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758" r="53885" b="55515"/>
          <a:stretch>
            <a:fillRect/>
          </a:stretch>
        </p:blipFill>
        <p:spPr>
          <a:xfrm>
            <a:off x="10228416" y="260446"/>
            <a:ext cx="1889004" cy="1086946"/>
          </a:xfrm>
          <a:prstGeom prst="rect">
            <a:avLst/>
          </a:prstGeom>
          <a:ln w="19050">
            <a:solidFill>
              <a:schemeClr val="tx2">
                <a:lumMod val="75000"/>
              </a:schemeClr>
            </a:solidFill>
          </a:ln>
        </p:spPr>
      </p:pic>
      <p:cxnSp>
        <p:nvCxnSpPr>
          <p:cNvPr id="9" name="Connettore dritto 8">
            <a:extLst>
              <a:ext uri="{FF2B5EF4-FFF2-40B4-BE49-F238E27FC236}">
                <a16:creationId xmlns:a16="http://schemas.microsoft.com/office/drawing/2014/main" id="{358F3A58-329B-08A8-B14B-37B8943B0C02}"/>
              </a:ext>
            </a:extLst>
          </p:cNvPr>
          <p:cNvCxnSpPr>
            <a:cxnSpLocks/>
          </p:cNvCxnSpPr>
          <p:nvPr/>
        </p:nvCxnSpPr>
        <p:spPr>
          <a:xfrm flipV="1">
            <a:off x="400050" y="6377357"/>
            <a:ext cx="11391900" cy="4012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B35B9A55-73BE-3D54-6A50-E06C1B9C7A8E}"/>
              </a:ext>
            </a:extLst>
          </p:cNvPr>
          <p:cNvSpPr txBox="1"/>
          <p:nvPr/>
        </p:nvSpPr>
        <p:spPr>
          <a:xfrm>
            <a:off x="10796475" y="6439045"/>
            <a:ext cx="9637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noProof="0" dirty="0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</a:rPr>
              <a:t>4 </a:t>
            </a:r>
            <a:r>
              <a:rPr lang="en-GB" noProof="0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</a:rPr>
              <a:t>of 10</a:t>
            </a:r>
            <a:endParaRPr lang="en-GB" noProof="0" dirty="0">
              <a:solidFill>
                <a:schemeClr val="tx2">
                  <a:lumMod val="75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93CB9471-70D2-26B5-6AA9-BB38B5EEA4BD}"/>
              </a:ext>
            </a:extLst>
          </p:cNvPr>
          <p:cNvSpPr txBox="1"/>
          <p:nvPr/>
        </p:nvSpPr>
        <p:spPr>
          <a:xfrm>
            <a:off x="368300" y="1339087"/>
            <a:ext cx="10470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noProof="0" dirty="0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</a:rPr>
              <a:t>S2 -&gt; S3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6290F2EC-F1E4-D1C1-78B4-64288AEED7CE}"/>
              </a:ext>
            </a:extLst>
          </p:cNvPr>
          <p:cNvSpPr/>
          <p:nvPr/>
        </p:nvSpPr>
        <p:spPr>
          <a:xfrm>
            <a:off x="17947" y="2106011"/>
            <a:ext cx="12192000" cy="1618721"/>
          </a:xfrm>
          <a:prstGeom prst="rect">
            <a:avLst/>
          </a:prstGeom>
          <a:solidFill>
            <a:srgbClr val="91C6F7">
              <a:alpha val="6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1FCC03FF-DAC7-E228-CBAC-76ACFC35A0DB}"/>
              </a:ext>
            </a:extLst>
          </p:cNvPr>
          <p:cNvSpPr txBox="1"/>
          <p:nvPr/>
        </p:nvSpPr>
        <p:spPr>
          <a:xfrm>
            <a:off x="449747" y="2163688"/>
            <a:ext cx="78413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noProof="0" dirty="0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</a:rPr>
              <a:t>Cause</a:t>
            </a:r>
            <a:r>
              <a:rPr lang="en-GB" sz="2400" noProof="0" dirty="0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</a:rPr>
              <a:t>: </a:t>
            </a:r>
            <a:r>
              <a:rPr lang="en-GB" sz="2400" i="1" noProof="0" dirty="0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</a:rPr>
              <a:t>disturbance</a:t>
            </a:r>
            <a:r>
              <a:rPr lang="en-GB" sz="2400" noProof="0" dirty="0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</a:rPr>
              <a:t> of the </a:t>
            </a:r>
            <a:r>
              <a:rPr lang="en-GB" sz="2400" i="1" noProof="0" dirty="0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</a:rPr>
              <a:t>electric current</a:t>
            </a:r>
            <a:r>
              <a:rPr lang="en-GB" sz="2400" noProof="0" dirty="0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</a:rPr>
              <a:t>.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F4EAAA6D-C174-AF9C-43D1-560989F9A5AF}"/>
              </a:ext>
            </a:extLst>
          </p:cNvPr>
          <p:cNvSpPr txBox="1"/>
          <p:nvPr/>
        </p:nvSpPr>
        <p:spPr>
          <a:xfrm>
            <a:off x="435233" y="2827062"/>
            <a:ext cx="101232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</a:rPr>
              <a:t>Solution</a:t>
            </a:r>
            <a:r>
              <a:rPr lang="en-GB" sz="2400" dirty="0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</a:rPr>
              <a:t>: </a:t>
            </a:r>
            <a:r>
              <a:rPr lang="en-GB" sz="2400" i="1" dirty="0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</a:rPr>
              <a:t>adaptive noise cancellation</a:t>
            </a:r>
            <a:r>
              <a:rPr lang="en-GB" sz="2400" dirty="0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</a:rPr>
              <a:t> using harmonic frequences of the fundamental frequency 50 Hz.</a:t>
            </a:r>
          </a:p>
        </p:txBody>
      </p:sp>
      <p:pic>
        <p:nvPicPr>
          <p:cNvPr id="25" name="Immagine 24" descr="Immagine che contiene testo, schermata, Carattere&#10;&#10;Il contenuto generato dall'IA potrebbe non essere corretto.">
            <a:extLst>
              <a:ext uri="{FF2B5EF4-FFF2-40B4-BE49-F238E27FC236}">
                <a16:creationId xmlns:a16="http://schemas.microsoft.com/office/drawing/2014/main" id="{C13B997F-B5D7-ACD1-5B75-767DAE1B52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1496" y="4000017"/>
            <a:ext cx="8544902" cy="1837475"/>
          </a:xfrm>
          <a:prstGeom prst="rect">
            <a:avLst/>
          </a:prstGeom>
          <a:ln w="28575">
            <a:solidFill>
              <a:schemeClr val="tx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9952538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6391C2-0CB6-E4ED-2B55-754EA8B35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tangolo 12">
            <a:extLst>
              <a:ext uri="{FF2B5EF4-FFF2-40B4-BE49-F238E27FC236}">
                <a16:creationId xmlns:a16="http://schemas.microsoft.com/office/drawing/2014/main" id="{7AF89624-BC73-13E0-B163-17F3206A11CB}"/>
              </a:ext>
            </a:extLst>
          </p:cNvPr>
          <p:cNvSpPr/>
          <p:nvPr/>
        </p:nvSpPr>
        <p:spPr>
          <a:xfrm>
            <a:off x="368300" y="353641"/>
            <a:ext cx="11391900" cy="8240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95054862-5379-E519-31AB-B0FB1E522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192272"/>
            <a:ext cx="10922002" cy="1158875"/>
          </a:xfrm>
        </p:spPr>
        <p:txBody>
          <a:bodyPr>
            <a:normAutofit/>
          </a:bodyPr>
          <a:lstStyle/>
          <a:p>
            <a:r>
              <a:rPr lang="en-GB" noProof="0" dirty="0">
                <a:solidFill>
                  <a:schemeClr val="bg1"/>
                </a:solidFill>
                <a:latin typeface="Bookman Old Style" panose="02050604050505020204" pitchFamily="18" charset="0"/>
              </a:rPr>
              <a:t>3. </a:t>
            </a:r>
            <a:r>
              <a:rPr lang="en-GB" dirty="0">
                <a:solidFill>
                  <a:schemeClr val="bg1"/>
                </a:solidFill>
                <a:latin typeface="Bookman Old Style" panose="02050604050505020204" pitchFamily="18" charset="0"/>
              </a:rPr>
              <a:t>Upsampling</a:t>
            </a:r>
            <a:endParaRPr lang="en-GB" noProof="0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  <p:pic>
        <p:nvPicPr>
          <p:cNvPr id="7" name="Immagine 6" descr="Immagine che contiene testo, diagramma, Carattere, schizzo&#10;&#10;Il contenuto generato dall'IA potrebbe non essere corretto.">
            <a:extLst>
              <a:ext uri="{FF2B5EF4-FFF2-40B4-BE49-F238E27FC236}">
                <a16:creationId xmlns:a16="http://schemas.microsoft.com/office/drawing/2014/main" id="{35A2F259-C404-E461-4EA2-7760B93F707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0103" r="41664" b="57754"/>
          <a:stretch>
            <a:fillRect/>
          </a:stretch>
        </p:blipFill>
        <p:spPr>
          <a:xfrm>
            <a:off x="10515438" y="179537"/>
            <a:ext cx="1525797" cy="1159550"/>
          </a:xfrm>
          <a:prstGeom prst="rect">
            <a:avLst/>
          </a:prstGeom>
          <a:ln w="19050">
            <a:solidFill>
              <a:schemeClr val="tx2">
                <a:lumMod val="75000"/>
              </a:schemeClr>
            </a:solidFill>
          </a:ln>
        </p:spPr>
      </p:pic>
      <p:cxnSp>
        <p:nvCxnSpPr>
          <p:cNvPr id="9" name="Connettore dritto 8">
            <a:extLst>
              <a:ext uri="{FF2B5EF4-FFF2-40B4-BE49-F238E27FC236}">
                <a16:creationId xmlns:a16="http://schemas.microsoft.com/office/drawing/2014/main" id="{0E0A251C-9F53-9112-952F-90E494B0A125}"/>
              </a:ext>
            </a:extLst>
          </p:cNvPr>
          <p:cNvCxnSpPr>
            <a:cxnSpLocks/>
          </p:cNvCxnSpPr>
          <p:nvPr/>
        </p:nvCxnSpPr>
        <p:spPr>
          <a:xfrm flipV="1">
            <a:off x="400050" y="6377357"/>
            <a:ext cx="11391900" cy="4012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37C00AF8-26A2-13D6-B41F-7DC12AFD921D}"/>
              </a:ext>
            </a:extLst>
          </p:cNvPr>
          <p:cNvSpPr txBox="1"/>
          <p:nvPr/>
        </p:nvSpPr>
        <p:spPr>
          <a:xfrm>
            <a:off x="10796475" y="6439045"/>
            <a:ext cx="9637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</a:rPr>
              <a:t>5</a:t>
            </a:r>
            <a:r>
              <a:rPr lang="en-GB" noProof="0" dirty="0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</a:rPr>
              <a:t> </a:t>
            </a:r>
            <a:r>
              <a:rPr lang="en-GB" noProof="0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</a:rPr>
              <a:t>of </a:t>
            </a:r>
            <a:r>
              <a:rPr lang="en-GB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</a:rPr>
              <a:t>10</a:t>
            </a:r>
            <a:endParaRPr lang="en-GB" noProof="0" dirty="0">
              <a:solidFill>
                <a:schemeClr val="tx2">
                  <a:lumMod val="75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06919AA2-95F3-F678-ADE2-76DDD14CE8AD}"/>
              </a:ext>
            </a:extLst>
          </p:cNvPr>
          <p:cNvSpPr txBox="1"/>
          <p:nvPr/>
        </p:nvSpPr>
        <p:spPr>
          <a:xfrm>
            <a:off x="368300" y="1339087"/>
            <a:ext cx="10470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noProof="0" dirty="0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</a:rPr>
              <a:t>S3 -&gt; S4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6BD8AFF5-622C-B86D-726B-7AA83966CE1A}"/>
              </a:ext>
            </a:extLst>
          </p:cNvPr>
          <p:cNvSpPr/>
          <p:nvPr/>
        </p:nvSpPr>
        <p:spPr>
          <a:xfrm>
            <a:off x="0" y="2219274"/>
            <a:ext cx="12192000" cy="1618721"/>
          </a:xfrm>
          <a:prstGeom prst="rect">
            <a:avLst/>
          </a:prstGeom>
          <a:solidFill>
            <a:srgbClr val="91C6F7">
              <a:alpha val="6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611FBF46-F4F5-F51D-F931-2552E0840C6A}"/>
              </a:ext>
            </a:extLst>
          </p:cNvPr>
          <p:cNvSpPr txBox="1"/>
          <p:nvPr/>
        </p:nvSpPr>
        <p:spPr>
          <a:xfrm>
            <a:off x="2045089" y="2797801"/>
            <a:ext cx="80383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noProof="0" dirty="0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</a:rPr>
              <a:t>Done by using the </a:t>
            </a:r>
            <a:r>
              <a:rPr lang="en-GB" sz="2400" b="1" i="1" noProof="0" dirty="0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</a:rPr>
              <a:t>scipy.signal.resample</a:t>
            </a:r>
            <a:r>
              <a:rPr lang="en-GB" sz="2400" b="1" noProof="0" dirty="0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</a:rPr>
              <a:t> </a:t>
            </a:r>
            <a:r>
              <a:rPr lang="en-GB" sz="2400" noProof="0" dirty="0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</a:rPr>
              <a:t>function.</a:t>
            </a:r>
          </a:p>
        </p:txBody>
      </p:sp>
      <p:pic>
        <p:nvPicPr>
          <p:cNvPr id="12" name="Immagine 11" descr="Immagine che contiene testo, Carattere, bianco, algebra&#10;&#10;Il contenuto generato dall'IA potrebbe non essere corretto.">
            <a:extLst>
              <a:ext uri="{FF2B5EF4-FFF2-40B4-BE49-F238E27FC236}">
                <a16:creationId xmlns:a16="http://schemas.microsoft.com/office/drawing/2014/main" id="{C9B15236-77FB-8088-F894-3F67C7EE7C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6687" y="4333245"/>
            <a:ext cx="6595124" cy="1465583"/>
          </a:xfrm>
          <a:prstGeom prst="rect">
            <a:avLst/>
          </a:prstGeom>
          <a:ln w="28575">
            <a:solidFill>
              <a:schemeClr val="tx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01340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F0D877-2399-24E6-8BA2-F7D7E044D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tangolo 12">
            <a:extLst>
              <a:ext uri="{FF2B5EF4-FFF2-40B4-BE49-F238E27FC236}">
                <a16:creationId xmlns:a16="http://schemas.microsoft.com/office/drawing/2014/main" id="{99A03086-8E76-B461-A5A1-313A579F0D49}"/>
              </a:ext>
            </a:extLst>
          </p:cNvPr>
          <p:cNvSpPr/>
          <p:nvPr/>
        </p:nvSpPr>
        <p:spPr>
          <a:xfrm>
            <a:off x="368300" y="353641"/>
            <a:ext cx="11391900" cy="8240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4B8B1EC-3D9B-30B1-8CB5-1908FB07B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192272"/>
            <a:ext cx="10922002" cy="1158875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bg1"/>
                </a:solidFill>
                <a:latin typeface="Bookman Old Style" panose="02050604050505020204" pitchFamily="18" charset="0"/>
              </a:rPr>
              <a:t>4</a:t>
            </a:r>
            <a:r>
              <a:rPr lang="en-GB" noProof="0" dirty="0">
                <a:solidFill>
                  <a:schemeClr val="bg1"/>
                </a:solidFill>
                <a:latin typeface="Bookman Old Style" panose="02050604050505020204" pitchFamily="18" charset="0"/>
              </a:rPr>
              <a:t>. </a:t>
            </a:r>
            <a:r>
              <a:rPr lang="en-GB" dirty="0">
                <a:solidFill>
                  <a:schemeClr val="bg1"/>
                </a:solidFill>
                <a:latin typeface="Bookman Old Style" panose="02050604050505020204" pitchFamily="18" charset="0"/>
              </a:rPr>
              <a:t>MQRS detection</a:t>
            </a:r>
            <a:endParaRPr lang="en-GB" noProof="0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  <p:pic>
        <p:nvPicPr>
          <p:cNvPr id="7" name="Immagine 6" descr="Immagine che contiene testo, diagramma, Carattere, schizzo&#10;&#10;Il contenuto generato dall'IA potrebbe non essere corretto.">
            <a:extLst>
              <a:ext uri="{FF2B5EF4-FFF2-40B4-BE49-F238E27FC236}">
                <a16:creationId xmlns:a16="http://schemas.microsoft.com/office/drawing/2014/main" id="{0BD62A94-7D4B-DE8A-DF16-C8A6D4ECE65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647" r="35261" b="19451"/>
          <a:stretch>
            <a:fillRect/>
          </a:stretch>
        </p:blipFill>
        <p:spPr>
          <a:xfrm>
            <a:off x="11166575" y="49623"/>
            <a:ext cx="865527" cy="1622870"/>
          </a:xfrm>
          <a:prstGeom prst="rect">
            <a:avLst/>
          </a:prstGeom>
          <a:ln w="19050">
            <a:solidFill>
              <a:schemeClr val="tx2">
                <a:lumMod val="75000"/>
              </a:schemeClr>
            </a:solidFill>
          </a:ln>
        </p:spPr>
      </p:pic>
      <p:cxnSp>
        <p:nvCxnSpPr>
          <p:cNvPr id="9" name="Connettore dritto 8">
            <a:extLst>
              <a:ext uri="{FF2B5EF4-FFF2-40B4-BE49-F238E27FC236}">
                <a16:creationId xmlns:a16="http://schemas.microsoft.com/office/drawing/2014/main" id="{B2122F71-2EF1-04B9-67FB-5BF87CF26412}"/>
              </a:ext>
            </a:extLst>
          </p:cNvPr>
          <p:cNvCxnSpPr>
            <a:cxnSpLocks/>
          </p:cNvCxnSpPr>
          <p:nvPr/>
        </p:nvCxnSpPr>
        <p:spPr>
          <a:xfrm flipV="1">
            <a:off x="400050" y="6377357"/>
            <a:ext cx="11391900" cy="4012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BECC2442-F868-F586-71B1-6191246C432E}"/>
              </a:ext>
            </a:extLst>
          </p:cNvPr>
          <p:cNvSpPr txBox="1"/>
          <p:nvPr/>
        </p:nvSpPr>
        <p:spPr>
          <a:xfrm>
            <a:off x="10796475" y="6439045"/>
            <a:ext cx="9637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noProof="0" dirty="0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</a:rPr>
              <a:t>6 </a:t>
            </a:r>
            <a:r>
              <a:rPr lang="en-GB" noProof="0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</a:rPr>
              <a:t>of 10</a:t>
            </a:r>
            <a:endParaRPr lang="en-GB" noProof="0" dirty="0">
              <a:solidFill>
                <a:schemeClr val="tx2">
                  <a:lumMod val="75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E8E09743-5CB8-EEEA-48EA-07ABFC25A26C}"/>
              </a:ext>
            </a:extLst>
          </p:cNvPr>
          <p:cNvSpPr txBox="1"/>
          <p:nvPr/>
        </p:nvSpPr>
        <p:spPr>
          <a:xfrm>
            <a:off x="368300" y="1339087"/>
            <a:ext cx="20168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noProof="0" dirty="0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</a:rPr>
              <a:t>S4 transformation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C2314131-BBDE-5267-6A5F-BE5A9E796871}"/>
              </a:ext>
            </a:extLst>
          </p:cNvPr>
          <p:cNvSpPr/>
          <p:nvPr/>
        </p:nvSpPr>
        <p:spPr>
          <a:xfrm>
            <a:off x="0" y="1817574"/>
            <a:ext cx="12192000" cy="1477784"/>
          </a:xfrm>
          <a:prstGeom prst="rect">
            <a:avLst/>
          </a:prstGeom>
          <a:solidFill>
            <a:srgbClr val="91C6F7">
              <a:alpha val="6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pic>
        <p:nvPicPr>
          <p:cNvPr id="20" name="Immagine 19" descr="Immagine che contiene schermata, linea&#10;&#10;Il contenuto generato dall'IA potrebbe non essere corretto.">
            <a:extLst>
              <a:ext uri="{FF2B5EF4-FFF2-40B4-BE49-F238E27FC236}">
                <a16:creationId xmlns:a16="http://schemas.microsoft.com/office/drawing/2014/main" id="{040603B1-1E06-6F55-902F-EDB39A299D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318" y="3455268"/>
            <a:ext cx="11857362" cy="2332407"/>
          </a:xfrm>
          <a:prstGeom prst="rect">
            <a:avLst/>
          </a:prstGeom>
        </p:spPr>
      </p:pic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7DD0065E-7650-AA30-5ED8-1122292E7AF4}"/>
              </a:ext>
            </a:extLst>
          </p:cNvPr>
          <p:cNvSpPr txBox="1"/>
          <p:nvPr/>
        </p:nvSpPr>
        <p:spPr>
          <a:xfrm>
            <a:off x="2342220" y="1982057"/>
            <a:ext cx="744405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romanLcPeriod"/>
            </a:pPr>
            <a:r>
              <a:rPr lang="en-GB" sz="2400" noProof="0" dirty="0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</a:rPr>
              <a:t>PCA firs component (</a:t>
            </a:r>
            <a:r>
              <a:rPr lang="en-GB" sz="2400" i="1" noProof="0" dirty="0" err="1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</a:rPr>
              <a:t>pca_firs</a:t>
            </a:r>
            <a:r>
              <a:rPr lang="en-GB" sz="2400" i="1" dirty="0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</a:rPr>
              <a:t>_component)</a:t>
            </a:r>
            <a:endParaRPr lang="en-GB" sz="2400" noProof="0" dirty="0">
              <a:solidFill>
                <a:schemeClr val="tx2">
                  <a:lumMod val="75000"/>
                </a:schemeClr>
              </a:solidFill>
              <a:latin typeface="Bookman Old Style" panose="02050604050505020204" pitchFamily="18" charset="0"/>
            </a:endParaRPr>
          </a:p>
          <a:p>
            <a:pPr marL="514350" indent="-514350">
              <a:buFont typeface="+mj-lt"/>
              <a:buAutoNum type="romanLcPeriod"/>
            </a:pPr>
            <a:r>
              <a:rPr lang="en-GB" sz="2400" dirty="0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</a:rPr>
              <a:t>MQRS template </a:t>
            </a:r>
            <a:r>
              <a:rPr lang="en-GB" sz="2400" i="1" dirty="0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</a:rPr>
              <a:t>(</a:t>
            </a:r>
            <a:r>
              <a:rPr lang="en-GB" sz="2400" i="1" dirty="0" err="1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</a:rPr>
              <a:t>build_qrs_template</a:t>
            </a:r>
            <a:r>
              <a:rPr lang="en-GB" sz="2400" i="1" dirty="0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</a:rPr>
              <a:t>)</a:t>
            </a:r>
          </a:p>
          <a:p>
            <a:pPr marL="457200" indent="-457200">
              <a:buAutoNum type="romanLcPeriod"/>
            </a:pPr>
            <a:r>
              <a:rPr lang="en-GB" sz="2400" noProof="0" dirty="0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</a:rPr>
              <a:t>Cross correlation </a:t>
            </a:r>
            <a:r>
              <a:rPr lang="en-GB" sz="2400" i="1" noProof="0" dirty="0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</a:rPr>
              <a:t>(</a:t>
            </a:r>
            <a:r>
              <a:rPr lang="en-GB" sz="2400" i="1" noProof="0" dirty="0" err="1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</a:rPr>
              <a:t>detect_qrs_corsscorr</a:t>
            </a:r>
            <a:r>
              <a:rPr lang="en-GB" sz="2400" i="1" noProof="0" dirty="0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</a:rPr>
              <a:t>)</a:t>
            </a:r>
          </a:p>
        </p:txBody>
      </p:sp>
      <p:pic>
        <p:nvPicPr>
          <p:cNvPr id="26" name="Immagine 25">
            <a:extLst>
              <a:ext uri="{FF2B5EF4-FFF2-40B4-BE49-F238E27FC236}">
                <a16:creationId xmlns:a16="http://schemas.microsoft.com/office/drawing/2014/main" id="{18F9F540-C0B9-CA37-329A-BF2D68D379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7395" y="5814910"/>
            <a:ext cx="2328537" cy="374934"/>
          </a:xfrm>
          <a:prstGeom prst="rect">
            <a:avLst/>
          </a:prstGeom>
          <a:ln w="19050">
            <a:solidFill>
              <a:schemeClr val="tx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7554843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EC1D08-8DDB-B439-ED88-FA22B46B3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tangolo 12">
            <a:extLst>
              <a:ext uri="{FF2B5EF4-FFF2-40B4-BE49-F238E27FC236}">
                <a16:creationId xmlns:a16="http://schemas.microsoft.com/office/drawing/2014/main" id="{D037D6A4-9380-8C0C-37CA-97FC49983574}"/>
              </a:ext>
            </a:extLst>
          </p:cNvPr>
          <p:cNvSpPr/>
          <p:nvPr/>
        </p:nvSpPr>
        <p:spPr>
          <a:xfrm>
            <a:off x="368300" y="353641"/>
            <a:ext cx="11391900" cy="8240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pic>
        <p:nvPicPr>
          <p:cNvPr id="7" name="Immagine 6" descr="Immagine che contiene testo, diagramma, Carattere, schizzo&#10;&#10;Il contenuto generato dall'IA potrebbe non essere corretto.">
            <a:extLst>
              <a:ext uri="{FF2B5EF4-FFF2-40B4-BE49-F238E27FC236}">
                <a16:creationId xmlns:a16="http://schemas.microsoft.com/office/drawing/2014/main" id="{643B0EAA-5144-82F0-D699-EBDF4E8AC22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9439" t="2604" r="23866" b="57121"/>
          <a:stretch>
            <a:fillRect/>
          </a:stretch>
        </p:blipFill>
        <p:spPr>
          <a:xfrm>
            <a:off x="10551626" y="188972"/>
            <a:ext cx="1453421" cy="1150115"/>
          </a:xfrm>
          <a:prstGeom prst="rect">
            <a:avLst/>
          </a:prstGeom>
          <a:ln w="19050">
            <a:solidFill>
              <a:schemeClr val="tx2">
                <a:lumMod val="75000"/>
              </a:schemeClr>
            </a:solidFill>
          </a:ln>
        </p:spPr>
      </p:pic>
      <p:cxnSp>
        <p:nvCxnSpPr>
          <p:cNvPr id="9" name="Connettore dritto 8">
            <a:extLst>
              <a:ext uri="{FF2B5EF4-FFF2-40B4-BE49-F238E27FC236}">
                <a16:creationId xmlns:a16="http://schemas.microsoft.com/office/drawing/2014/main" id="{BA591878-3421-59E1-177C-CF6F21ECA0DC}"/>
              </a:ext>
            </a:extLst>
          </p:cNvPr>
          <p:cNvCxnSpPr>
            <a:cxnSpLocks/>
          </p:cNvCxnSpPr>
          <p:nvPr/>
        </p:nvCxnSpPr>
        <p:spPr>
          <a:xfrm flipV="1">
            <a:off x="400050" y="6377357"/>
            <a:ext cx="11391900" cy="4012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9ED3990F-FA9F-8DAE-B376-7B0661E00EA9}"/>
              </a:ext>
            </a:extLst>
          </p:cNvPr>
          <p:cNvSpPr txBox="1"/>
          <p:nvPr/>
        </p:nvSpPr>
        <p:spPr>
          <a:xfrm>
            <a:off x="10796475" y="6439045"/>
            <a:ext cx="9637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</a:rPr>
              <a:t>7</a:t>
            </a:r>
            <a:r>
              <a:rPr lang="en-GB" noProof="0" dirty="0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</a:rPr>
              <a:t> </a:t>
            </a:r>
            <a:r>
              <a:rPr lang="en-GB" noProof="0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</a:rPr>
              <a:t>of 10</a:t>
            </a:r>
            <a:endParaRPr lang="en-GB" noProof="0" dirty="0">
              <a:solidFill>
                <a:schemeClr val="tx2">
                  <a:lumMod val="75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8464A1F4-9B59-70B0-2CE5-F8787F2F15A1}"/>
              </a:ext>
            </a:extLst>
          </p:cNvPr>
          <p:cNvSpPr txBox="1"/>
          <p:nvPr/>
        </p:nvSpPr>
        <p:spPr>
          <a:xfrm>
            <a:off x="368300" y="1339087"/>
            <a:ext cx="10470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noProof="0" dirty="0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</a:rPr>
              <a:t>S4 -&gt; S5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6D8AF8E4-1D2A-B408-6DEB-681D3714E360}"/>
              </a:ext>
            </a:extLst>
          </p:cNvPr>
          <p:cNvSpPr/>
          <p:nvPr/>
        </p:nvSpPr>
        <p:spPr>
          <a:xfrm>
            <a:off x="0" y="1972520"/>
            <a:ext cx="12192000" cy="3944832"/>
          </a:xfrm>
          <a:prstGeom prst="rect">
            <a:avLst/>
          </a:prstGeom>
          <a:solidFill>
            <a:srgbClr val="91C6F7">
              <a:alpha val="6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pic>
        <p:nvPicPr>
          <p:cNvPr id="19" name="Immagine 18" descr="Immagine che contiene linea, schermata, Diagramma&#10;&#10;Il contenuto generato dall'IA potrebbe non essere corretto.">
            <a:extLst>
              <a:ext uri="{FF2B5EF4-FFF2-40B4-BE49-F238E27FC236}">
                <a16:creationId xmlns:a16="http://schemas.microsoft.com/office/drawing/2014/main" id="{D1A295D5-D202-98F0-A01D-B62C66A770E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29"/>
          <a:stretch>
            <a:fillRect/>
          </a:stretch>
        </p:blipFill>
        <p:spPr>
          <a:xfrm>
            <a:off x="224229" y="2307318"/>
            <a:ext cx="7421526" cy="3364295"/>
          </a:xfrm>
          <a:prstGeom prst="rect">
            <a:avLst/>
          </a:prstGeom>
        </p:spPr>
      </p:pic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937201B5-48A8-3BFF-B481-1D0CFACCE73F}"/>
              </a:ext>
            </a:extLst>
          </p:cNvPr>
          <p:cNvSpPr txBox="1"/>
          <p:nvPr/>
        </p:nvSpPr>
        <p:spPr>
          <a:xfrm>
            <a:off x="7956531" y="2255293"/>
            <a:ext cx="392469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romanLcPeriod"/>
            </a:pPr>
            <a:r>
              <a:rPr lang="en-GB" sz="2400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</a:rPr>
              <a:t>10 </a:t>
            </a:r>
            <a:r>
              <a:rPr lang="en-GB" sz="2400" dirty="0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</a:rPr>
              <a:t>preceding maternal heartbeats</a:t>
            </a:r>
          </a:p>
          <a:p>
            <a:pPr marL="514350" indent="-514350">
              <a:buFont typeface="+mj-lt"/>
              <a:buAutoNum type="romanLcPeriod"/>
            </a:pPr>
            <a:endParaRPr lang="en-GB" sz="2400" dirty="0">
              <a:solidFill>
                <a:schemeClr val="tx2">
                  <a:lumMod val="75000"/>
                </a:schemeClr>
              </a:solidFill>
              <a:latin typeface="Bookman Old Style" panose="02050604050505020204" pitchFamily="18" charset="0"/>
            </a:endParaRPr>
          </a:p>
          <a:p>
            <a:pPr marL="514350" indent="-514350">
              <a:buFont typeface="+mj-lt"/>
              <a:buAutoNum type="romanLcPeriod"/>
            </a:pPr>
            <a:r>
              <a:rPr lang="en-GB" sz="2400" noProof="0" dirty="0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</a:rPr>
              <a:t>Different scale factors</a:t>
            </a:r>
          </a:p>
          <a:p>
            <a:pPr marL="514350" indent="-514350">
              <a:buFont typeface="+mj-lt"/>
              <a:buAutoNum type="romanLcPeriod"/>
            </a:pPr>
            <a:endParaRPr lang="en-GB" sz="2400" noProof="0" dirty="0">
              <a:solidFill>
                <a:schemeClr val="tx2">
                  <a:lumMod val="75000"/>
                </a:schemeClr>
              </a:solidFill>
              <a:latin typeface="Bookman Old Style" panose="02050604050505020204" pitchFamily="18" charset="0"/>
            </a:endParaRPr>
          </a:p>
          <a:p>
            <a:pPr marL="514350" indent="-514350">
              <a:buFont typeface="+mj-lt"/>
              <a:buAutoNum type="romanLcPeriod"/>
            </a:pPr>
            <a:r>
              <a:rPr lang="en-GB" sz="2400" dirty="0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</a:rPr>
              <a:t>Subtraction between the signal and the estimate mother ECG</a:t>
            </a:r>
            <a:endParaRPr lang="en-GB" sz="2400" noProof="0" dirty="0">
              <a:solidFill>
                <a:schemeClr val="tx2">
                  <a:lumMod val="75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28" name="Titolo 1">
            <a:extLst>
              <a:ext uri="{FF2B5EF4-FFF2-40B4-BE49-F238E27FC236}">
                <a16:creationId xmlns:a16="http://schemas.microsoft.com/office/drawing/2014/main" id="{CC7916C5-DA50-93DA-EC03-CCE2C2747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192272"/>
            <a:ext cx="10922002" cy="1158875"/>
          </a:xfrm>
        </p:spPr>
        <p:txBody>
          <a:bodyPr>
            <a:normAutofit/>
          </a:bodyPr>
          <a:lstStyle/>
          <a:p>
            <a:r>
              <a:rPr lang="en-GB" noProof="0" dirty="0">
                <a:solidFill>
                  <a:schemeClr val="bg1"/>
                </a:solidFill>
                <a:latin typeface="Bookman Old Style" panose="02050604050505020204" pitchFamily="18" charset="0"/>
              </a:rPr>
              <a:t>5. MECG</a:t>
            </a:r>
            <a:r>
              <a:rPr lang="en-GB" dirty="0">
                <a:solidFill>
                  <a:schemeClr val="bg1"/>
                </a:solidFill>
                <a:latin typeface="Bookman Old Style" panose="02050604050505020204" pitchFamily="18" charset="0"/>
              </a:rPr>
              <a:t> canceller</a:t>
            </a:r>
            <a:endParaRPr lang="en-GB" noProof="0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4836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EC7A32-E86A-8CD3-879F-0810733B7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tangolo 12">
            <a:extLst>
              <a:ext uri="{FF2B5EF4-FFF2-40B4-BE49-F238E27FC236}">
                <a16:creationId xmlns:a16="http://schemas.microsoft.com/office/drawing/2014/main" id="{546DAB77-14CA-633A-DC36-C60205494250}"/>
              </a:ext>
            </a:extLst>
          </p:cNvPr>
          <p:cNvSpPr/>
          <p:nvPr/>
        </p:nvSpPr>
        <p:spPr>
          <a:xfrm>
            <a:off x="368300" y="353641"/>
            <a:ext cx="11391900" cy="8240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pic>
        <p:nvPicPr>
          <p:cNvPr id="7" name="Immagine 6" descr="Immagine che contiene testo, diagramma, Carattere, schizzo&#10;&#10;Il contenuto generato dall'IA potrebbe non essere corretto.">
            <a:extLst>
              <a:ext uri="{FF2B5EF4-FFF2-40B4-BE49-F238E27FC236}">
                <a16:creationId xmlns:a16="http://schemas.microsoft.com/office/drawing/2014/main" id="{6EB4AE17-B6A9-D8BB-412B-7DC7474EC69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9788" t="11941" r="14939" b="-5498"/>
          <a:stretch>
            <a:fillRect/>
          </a:stretch>
        </p:blipFill>
        <p:spPr>
          <a:xfrm>
            <a:off x="11072076" y="49623"/>
            <a:ext cx="878624" cy="1765538"/>
          </a:xfrm>
          <a:prstGeom prst="rect">
            <a:avLst/>
          </a:prstGeom>
          <a:ln w="19050">
            <a:solidFill>
              <a:schemeClr val="tx2">
                <a:lumMod val="75000"/>
              </a:schemeClr>
            </a:solidFill>
          </a:ln>
        </p:spPr>
      </p:pic>
      <p:cxnSp>
        <p:nvCxnSpPr>
          <p:cNvPr id="9" name="Connettore dritto 8">
            <a:extLst>
              <a:ext uri="{FF2B5EF4-FFF2-40B4-BE49-F238E27FC236}">
                <a16:creationId xmlns:a16="http://schemas.microsoft.com/office/drawing/2014/main" id="{F79AF74C-3CDD-F79C-49BB-41583B311746}"/>
              </a:ext>
            </a:extLst>
          </p:cNvPr>
          <p:cNvCxnSpPr>
            <a:cxnSpLocks/>
          </p:cNvCxnSpPr>
          <p:nvPr/>
        </p:nvCxnSpPr>
        <p:spPr>
          <a:xfrm flipV="1">
            <a:off x="400050" y="6377357"/>
            <a:ext cx="11391900" cy="4012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70E32CDC-CCB8-9020-B72D-D1C294764099}"/>
              </a:ext>
            </a:extLst>
          </p:cNvPr>
          <p:cNvSpPr txBox="1"/>
          <p:nvPr/>
        </p:nvSpPr>
        <p:spPr>
          <a:xfrm>
            <a:off x="10796475" y="6439045"/>
            <a:ext cx="9637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noProof="0" dirty="0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</a:rPr>
              <a:t>8 </a:t>
            </a:r>
            <a:r>
              <a:rPr lang="en-GB" noProof="0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</a:rPr>
              <a:t>of 10</a:t>
            </a:r>
            <a:endParaRPr lang="en-GB" noProof="0" dirty="0">
              <a:solidFill>
                <a:schemeClr val="tx2">
                  <a:lumMod val="75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6CD50569-C133-08E2-94B6-42EF7F13DD04}"/>
              </a:ext>
            </a:extLst>
          </p:cNvPr>
          <p:cNvSpPr txBox="1"/>
          <p:nvPr/>
        </p:nvSpPr>
        <p:spPr>
          <a:xfrm>
            <a:off x="368300" y="1339087"/>
            <a:ext cx="20168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noProof="0" dirty="0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</a:rPr>
              <a:t>S5 transformation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A296187A-FC7C-BCBA-F928-A6FC5012F0AC}"/>
              </a:ext>
            </a:extLst>
          </p:cNvPr>
          <p:cNvSpPr/>
          <p:nvPr/>
        </p:nvSpPr>
        <p:spPr>
          <a:xfrm>
            <a:off x="0" y="2817068"/>
            <a:ext cx="12192000" cy="2881439"/>
          </a:xfrm>
          <a:prstGeom prst="rect">
            <a:avLst/>
          </a:prstGeom>
          <a:solidFill>
            <a:srgbClr val="91C6F7">
              <a:alpha val="6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28" name="Titolo 1">
            <a:extLst>
              <a:ext uri="{FF2B5EF4-FFF2-40B4-BE49-F238E27FC236}">
                <a16:creationId xmlns:a16="http://schemas.microsoft.com/office/drawing/2014/main" id="{553519D2-C093-1235-7DCD-148CEB19D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192272"/>
            <a:ext cx="10922002" cy="1158875"/>
          </a:xfrm>
        </p:spPr>
        <p:txBody>
          <a:bodyPr>
            <a:normAutofit/>
          </a:bodyPr>
          <a:lstStyle/>
          <a:p>
            <a:r>
              <a:rPr lang="en-GB" noProof="0" dirty="0">
                <a:solidFill>
                  <a:schemeClr val="bg1"/>
                </a:solidFill>
                <a:latin typeface="Bookman Old Style" panose="02050604050505020204" pitchFamily="18" charset="0"/>
              </a:rPr>
              <a:t>6. </a:t>
            </a:r>
            <a:r>
              <a:rPr lang="en-GB" dirty="0">
                <a:solidFill>
                  <a:schemeClr val="bg1"/>
                </a:solidFill>
                <a:latin typeface="Bookman Old Style" panose="02050604050505020204" pitchFamily="18" charset="0"/>
              </a:rPr>
              <a:t>FQRS detection</a:t>
            </a:r>
            <a:endParaRPr lang="en-GB" noProof="0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  <p:pic>
        <p:nvPicPr>
          <p:cNvPr id="25" name="Immagine 24" descr="Immagine che contiene linea, Diagramma, schermata&#10;&#10;Il contenuto generato dall'IA potrebbe non essere corretto.">
            <a:extLst>
              <a:ext uri="{FF2B5EF4-FFF2-40B4-BE49-F238E27FC236}">
                <a16:creationId xmlns:a16="http://schemas.microsoft.com/office/drawing/2014/main" id="{5C303314-3574-BECF-9970-A4765968E84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446"/>
          <a:stretch>
            <a:fillRect/>
          </a:stretch>
        </p:blipFill>
        <p:spPr>
          <a:xfrm>
            <a:off x="985414" y="2962754"/>
            <a:ext cx="10086662" cy="2605162"/>
          </a:xfrm>
          <a:prstGeom prst="rect">
            <a:avLst/>
          </a:prstGeom>
        </p:spPr>
      </p:pic>
      <p:pic>
        <p:nvPicPr>
          <p:cNvPr id="4" name="Immagine 3">
            <a:extLst>
              <a:ext uri="{FF2B5EF4-FFF2-40B4-BE49-F238E27FC236}">
                <a16:creationId xmlns:a16="http://schemas.microsoft.com/office/drawing/2014/main" id="{9B62BCA4-02B4-C241-E8F6-B132F5BE06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9180" y="5808788"/>
            <a:ext cx="2973640" cy="437978"/>
          </a:xfrm>
          <a:prstGeom prst="rect">
            <a:avLst/>
          </a:prstGeom>
          <a:ln w="19050">
            <a:solidFill>
              <a:schemeClr val="tx2">
                <a:lumMod val="75000"/>
              </a:schemeClr>
            </a:solidFill>
          </a:ln>
        </p:spPr>
      </p:pic>
      <p:graphicFrame>
        <p:nvGraphicFramePr>
          <p:cNvPr id="17" name="Tabella 16">
            <a:extLst>
              <a:ext uri="{FF2B5EF4-FFF2-40B4-BE49-F238E27FC236}">
                <a16:creationId xmlns:a16="http://schemas.microsoft.com/office/drawing/2014/main" id="{9AB79123-19F3-D0DE-3497-8F2F00F030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321605"/>
              </p:ext>
            </p:extLst>
          </p:nvPr>
        </p:nvGraphicFramePr>
        <p:xfrm>
          <a:off x="2612825" y="1235393"/>
          <a:ext cx="6946899" cy="15240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315633">
                  <a:extLst>
                    <a:ext uri="{9D8B030D-6E8A-4147-A177-3AD203B41FA5}">
                      <a16:colId xmlns:a16="http://schemas.microsoft.com/office/drawing/2014/main" val="3776837452"/>
                    </a:ext>
                  </a:extLst>
                </a:gridCol>
                <a:gridCol w="2315633">
                  <a:extLst>
                    <a:ext uri="{9D8B030D-6E8A-4147-A177-3AD203B41FA5}">
                      <a16:colId xmlns:a16="http://schemas.microsoft.com/office/drawing/2014/main" val="1848232447"/>
                    </a:ext>
                  </a:extLst>
                </a:gridCol>
                <a:gridCol w="2315633">
                  <a:extLst>
                    <a:ext uri="{9D8B030D-6E8A-4147-A177-3AD203B41FA5}">
                      <a16:colId xmlns:a16="http://schemas.microsoft.com/office/drawing/2014/main" val="2018383821"/>
                    </a:ext>
                  </a:extLst>
                </a:gridCol>
              </a:tblGrid>
              <a:tr h="2317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it-IT" sz="1400" b="1" i="0" dirty="0">
                        <a:solidFill>
                          <a:schemeClr val="tx2">
                            <a:lumMod val="75000"/>
                          </a:schemeClr>
                        </a:solidFill>
                        <a:latin typeface="Bookman Old Style" panose="0205060405050502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b="1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Bookman Old Style" panose="02050604050505020204" pitchFamily="18" charset="0"/>
                        </a:rPr>
                        <a:t>FQRS detection</a:t>
                      </a:r>
                      <a:endParaRPr lang="it-IT" sz="1400" b="1" i="0" dirty="0">
                        <a:solidFill>
                          <a:schemeClr val="tx2">
                            <a:lumMod val="75000"/>
                          </a:schemeClr>
                        </a:solidFill>
                        <a:latin typeface="Bookman Old Style" panose="0205060405050502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b="1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Bookman Old Style" panose="02050604050505020204" pitchFamily="18" charset="0"/>
                        </a:rPr>
                        <a:t>MQRS detection</a:t>
                      </a:r>
                      <a:endParaRPr lang="it-IT" sz="1400" b="1" i="0" dirty="0">
                        <a:solidFill>
                          <a:schemeClr val="tx2">
                            <a:lumMod val="75000"/>
                          </a:schemeClr>
                        </a:solidFill>
                        <a:latin typeface="Bookman Old Style" panose="0205060405050502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1740640"/>
                  </a:ext>
                </a:extLst>
              </a:tr>
              <a:tr h="2317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b="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Bookman Old Style" panose="02050604050505020204" pitchFamily="18" charset="0"/>
                        </a:rPr>
                        <a:t>High-pass cutoff</a:t>
                      </a:r>
                      <a:endParaRPr lang="it-IT" sz="1400" b="0" i="0" dirty="0">
                        <a:solidFill>
                          <a:schemeClr val="tx2">
                            <a:lumMod val="75000"/>
                          </a:schemeClr>
                        </a:solidFill>
                        <a:latin typeface="Bookman Old Style" panose="0205060405050502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b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Bookman Old Style" panose="02050604050505020204" pitchFamily="18" charset="0"/>
                        </a:rPr>
                        <a:t>4 Hz</a:t>
                      </a:r>
                      <a:endParaRPr lang="it-IT" sz="1400" b="0" i="0">
                        <a:solidFill>
                          <a:schemeClr val="tx2">
                            <a:lumMod val="75000"/>
                          </a:schemeClr>
                        </a:solidFill>
                        <a:latin typeface="Bookman Old Style" panose="0205060405050502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b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Bookman Old Style" panose="02050604050505020204" pitchFamily="18" charset="0"/>
                        </a:rPr>
                        <a:t>1 Hz</a:t>
                      </a:r>
                      <a:endParaRPr lang="it-IT" sz="1400" b="0" i="0">
                        <a:solidFill>
                          <a:schemeClr val="tx2">
                            <a:lumMod val="75000"/>
                          </a:schemeClr>
                        </a:solidFill>
                        <a:latin typeface="Bookman Old Style" panose="0205060405050502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2598698"/>
                  </a:ext>
                </a:extLst>
              </a:tr>
              <a:tr h="2317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b="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Bookman Old Style" panose="02050604050505020204" pitchFamily="18" charset="0"/>
                        </a:rPr>
                        <a:t>Percentile</a:t>
                      </a:r>
                      <a:endParaRPr lang="it-IT" sz="1400" b="0" i="0" dirty="0">
                        <a:solidFill>
                          <a:schemeClr val="tx2">
                            <a:lumMod val="75000"/>
                          </a:schemeClr>
                        </a:solidFill>
                        <a:latin typeface="Bookman Old Style" panose="0205060405050502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b="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Bookman Old Style" panose="02050604050505020204" pitchFamily="18" charset="0"/>
                        </a:rPr>
                        <a:t>96</a:t>
                      </a:r>
                      <a:endParaRPr lang="it-IT" sz="1400" b="0" i="0" dirty="0">
                        <a:solidFill>
                          <a:schemeClr val="tx2">
                            <a:lumMod val="75000"/>
                          </a:schemeClr>
                        </a:solidFill>
                        <a:latin typeface="Bookman Old Style" panose="0205060405050502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b="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Bookman Old Style" panose="02050604050505020204" pitchFamily="18" charset="0"/>
                        </a:rPr>
                        <a:t>98</a:t>
                      </a:r>
                      <a:endParaRPr lang="it-IT" sz="1400" b="0" i="0" dirty="0">
                        <a:solidFill>
                          <a:schemeClr val="tx2">
                            <a:lumMod val="75000"/>
                          </a:schemeClr>
                        </a:solidFill>
                        <a:latin typeface="Bookman Old Style" panose="0205060405050502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7544103"/>
                  </a:ext>
                </a:extLst>
              </a:tr>
              <a:tr h="2317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b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Bookman Old Style" panose="02050604050505020204" pitchFamily="18" charset="0"/>
                        </a:rPr>
                        <a:t>Refractory</a:t>
                      </a:r>
                      <a:endParaRPr lang="it-IT" sz="1400" b="0" i="0">
                        <a:solidFill>
                          <a:schemeClr val="tx2">
                            <a:lumMod val="75000"/>
                          </a:schemeClr>
                        </a:solidFill>
                        <a:latin typeface="Bookman Old Style" panose="0205060405050502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b="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Bookman Old Style" panose="02050604050505020204" pitchFamily="18" charset="0"/>
                        </a:rPr>
                        <a:t>0.12 </a:t>
                      </a:r>
                      <a:r>
                        <a:rPr lang="it-IT" sz="1400" b="0" dirty="0" err="1">
                          <a:solidFill>
                            <a:schemeClr val="tx2">
                              <a:lumMod val="75000"/>
                            </a:schemeClr>
                          </a:solidFill>
                          <a:latin typeface="Bookman Old Style" panose="02050604050505020204" pitchFamily="18" charset="0"/>
                        </a:rPr>
                        <a:t>s</a:t>
                      </a:r>
                      <a:endParaRPr lang="it-IT" sz="1400" b="0" i="0" dirty="0">
                        <a:solidFill>
                          <a:schemeClr val="tx2">
                            <a:lumMod val="75000"/>
                          </a:schemeClr>
                        </a:solidFill>
                        <a:latin typeface="Bookman Old Style" panose="0205060405050502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b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Bookman Old Style" panose="02050604050505020204" pitchFamily="18" charset="0"/>
                        </a:rPr>
                        <a:t>0.28 s</a:t>
                      </a:r>
                      <a:endParaRPr lang="it-IT" sz="1400" b="0" i="0">
                        <a:solidFill>
                          <a:schemeClr val="tx2">
                            <a:lumMod val="75000"/>
                          </a:schemeClr>
                        </a:solidFill>
                        <a:latin typeface="Bookman Old Style" panose="0205060405050502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4026970"/>
                  </a:ext>
                </a:extLst>
              </a:tr>
              <a:tr h="2317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b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Bookman Old Style" panose="02050604050505020204" pitchFamily="18" charset="0"/>
                        </a:rPr>
                        <a:t>Refinement</a:t>
                      </a:r>
                      <a:endParaRPr lang="it-IT" sz="1400" b="0" i="0">
                        <a:solidFill>
                          <a:schemeClr val="tx2">
                            <a:lumMod val="75000"/>
                          </a:schemeClr>
                        </a:solidFill>
                        <a:latin typeface="Bookman Old Style" panose="0205060405050502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b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Bookman Old Style" panose="02050604050505020204" pitchFamily="18" charset="0"/>
                        </a:rPr>
                        <a:t>15 ms</a:t>
                      </a:r>
                      <a:endParaRPr lang="it-IT" sz="1400" b="0" i="0">
                        <a:solidFill>
                          <a:schemeClr val="tx2">
                            <a:lumMod val="75000"/>
                          </a:schemeClr>
                        </a:solidFill>
                        <a:latin typeface="Bookman Old Style" panose="0205060405050502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b="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Bookman Old Style" panose="02050604050505020204" pitchFamily="18" charset="0"/>
                        </a:rPr>
                        <a:t>20 ms</a:t>
                      </a:r>
                      <a:endParaRPr lang="it-IT" sz="1400" b="0" i="0" dirty="0">
                        <a:solidFill>
                          <a:schemeClr val="tx2">
                            <a:lumMod val="75000"/>
                          </a:schemeClr>
                        </a:solidFill>
                        <a:latin typeface="Bookman Old Style" panose="0205060405050502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28489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02137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F99A8-E2BE-3B8B-AEBB-82D6F8FF4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tangolo 12">
            <a:extLst>
              <a:ext uri="{FF2B5EF4-FFF2-40B4-BE49-F238E27FC236}">
                <a16:creationId xmlns:a16="http://schemas.microsoft.com/office/drawing/2014/main" id="{2EE0E23E-80FC-6704-8B7F-559DBE9B721B}"/>
              </a:ext>
            </a:extLst>
          </p:cNvPr>
          <p:cNvSpPr/>
          <p:nvPr/>
        </p:nvSpPr>
        <p:spPr>
          <a:xfrm>
            <a:off x="368300" y="353641"/>
            <a:ext cx="11391900" cy="8240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pic>
        <p:nvPicPr>
          <p:cNvPr id="7" name="Immagine 6" descr="Immagine che contiene testo, diagramma, Carattere, schizzo&#10;&#10;Il contenuto generato dall'IA potrebbe non essere corretto.">
            <a:extLst>
              <a:ext uri="{FF2B5EF4-FFF2-40B4-BE49-F238E27FC236}">
                <a16:creationId xmlns:a16="http://schemas.microsoft.com/office/drawing/2014/main" id="{0D68AD5D-E750-743D-E461-CF726D134E9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9788" t="11941" r="14939" b="-5498"/>
          <a:stretch>
            <a:fillRect/>
          </a:stretch>
        </p:blipFill>
        <p:spPr>
          <a:xfrm>
            <a:off x="11072076" y="49623"/>
            <a:ext cx="878624" cy="1765538"/>
          </a:xfrm>
          <a:prstGeom prst="rect">
            <a:avLst/>
          </a:prstGeom>
          <a:ln w="19050">
            <a:solidFill>
              <a:schemeClr val="tx2">
                <a:lumMod val="75000"/>
              </a:schemeClr>
            </a:solidFill>
          </a:ln>
        </p:spPr>
      </p:pic>
      <p:cxnSp>
        <p:nvCxnSpPr>
          <p:cNvPr id="9" name="Connettore dritto 8">
            <a:extLst>
              <a:ext uri="{FF2B5EF4-FFF2-40B4-BE49-F238E27FC236}">
                <a16:creationId xmlns:a16="http://schemas.microsoft.com/office/drawing/2014/main" id="{90816435-170C-D8ED-7FB8-0B6217796B04}"/>
              </a:ext>
            </a:extLst>
          </p:cNvPr>
          <p:cNvCxnSpPr>
            <a:cxnSpLocks/>
          </p:cNvCxnSpPr>
          <p:nvPr/>
        </p:nvCxnSpPr>
        <p:spPr>
          <a:xfrm flipV="1">
            <a:off x="400050" y="6377357"/>
            <a:ext cx="11391900" cy="4012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6036D604-8352-D84D-887F-8AF44EB45D58}"/>
              </a:ext>
            </a:extLst>
          </p:cNvPr>
          <p:cNvSpPr txBox="1"/>
          <p:nvPr/>
        </p:nvSpPr>
        <p:spPr>
          <a:xfrm>
            <a:off x="10796475" y="6439045"/>
            <a:ext cx="9637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noProof="0" dirty="0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</a:rPr>
              <a:t>8 </a:t>
            </a:r>
            <a:r>
              <a:rPr lang="en-GB" noProof="0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</a:rPr>
              <a:t>of 10</a:t>
            </a:r>
            <a:endParaRPr lang="en-GB" noProof="0" dirty="0">
              <a:solidFill>
                <a:schemeClr val="tx2">
                  <a:lumMod val="75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CF8779E4-8B20-AE6F-DE7E-D467D75ABF63}"/>
              </a:ext>
            </a:extLst>
          </p:cNvPr>
          <p:cNvSpPr txBox="1"/>
          <p:nvPr/>
        </p:nvSpPr>
        <p:spPr>
          <a:xfrm>
            <a:off x="368300" y="1339087"/>
            <a:ext cx="20168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noProof="0" dirty="0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</a:rPr>
              <a:t>S5 transformation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BEFB5692-B2B6-80EF-0496-A51653840944}"/>
              </a:ext>
            </a:extLst>
          </p:cNvPr>
          <p:cNvSpPr/>
          <p:nvPr/>
        </p:nvSpPr>
        <p:spPr>
          <a:xfrm>
            <a:off x="0" y="2605482"/>
            <a:ext cx="12192000" cy="3093025"/>
          </a:xfrm>
          <a:prstGeom prst="rect">
            <a:avLst/>
          </a:prstGeom>
          <a:solidFill>
            <a:srgbClr val="91C6F7">
              <a:alpha val="6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200000"/>
              </a:lnSpc>
            </a:pPr>
            <a:r>
              <a:rPr lang="it-IT" sz="2400" b="1" dirty="0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</a:rPr>
              <a:t>Mean R-R </a:t>
            </a:r>
            <a:r>
              <a:rPr lang="it-IT" sz="2400" b="1" dirty="0" err="1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</a:rPr>
              <a:t>Interval</a:t>
            </a:r>
            <a:r>
              <a:rPr lang="it-IT" sz="2400" dirty="0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</a:rPr>
              <a:t>: 470.73 ms</a:t>
            </a:r>
          </a:p>
          <a:p>
            <a:pPr algn="ctr">
              <a:lnSpc>
                <a:spcPct val="200000"/>
              </a:lnSpc>
            </a:pPr>
            <a:r>
              <a:rPr lang="it-IT" sz="2400" b="1" dirty="0" err="1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</a:rPr>
              <a:t>Estimated</a:t>
            </a:r>
            <a:r>
              <a:rPr lang="it-IT" sz="2400" b="1" dirty="0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</a:rPr>
              <a:t> Fetal Heart Rate (FHR)</a:t>
            </a:r>
            <a:r>
              <a:rPr lang="it-IT" sz="2400" dirty="0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</a:rPr>
              <a:t>: 127.46 BPM</a:t>
            </a:r>
          </a:p>
          <a:p>
            <a:pPr algn="ctr"/>
            <a:endParaRPr lang="en-GB" noProof="0" dirty="0"/>
          </a:p>
        </p:txBody>
      </p:sp>
      <p:sp>
        <p:nvSpPr>
          <p:cNvPr id="28" name="Titolo 1">
            <a:extLst>
              <a:ext uri="{FF2B5EF4-FFF2-40B4-BE49-F238E27FC236}">
                <a16:creationId xmlns:a16="http://schemas.microsoft.com/office/drawing/2014/main" id="{3E12A925-422B-603F-C009-87C2A1BA2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192272"/>
            <a:ext cx="10922002" cy="1158875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bg1"/>
                </a:solidFill>
                <a:latin typeface="Bookman Old Style" panose="02050604050505020204" pitchFamily="18" charset="0"/>
              </a:rPr>
              <a:t>6</a:t>
            </a:r>
            <a:r>
              <a:rPr lang="en-GB" noProof="0" dirty="0">
                <a:solidFill>
                  <a:schemeClr val="bg1"/>
                </a:solidFill>
                <a:latin typeface="Bookman Old Style" panose="02050604050505020204" pitchFamily="18" charset="0"/>
              </a:rPr>
              <a:t>. </a:t>
            </a:r>
            <a:r>
              <a:rPr lang="en-GB" dirty="0">
                <a:solidFill>
                  <a:schemeClr val="bg1"/>
                </a:solidFill>
                <a:latin typeface="Bookman Old Style" panose="02050604050505020204" pitchFamily="18" charset="0"/>
              </a:rPr>
              <a:t>FQRS detection</a:t>
            </a:r>
            <a:endParaRPr lang="en-GB" noProof="0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0" name="Rettangolo 19">
            <a:extLst>
              <a:ext uri="{FF2B5EF4-FFF2-40B4-BE49-F238E27FC236}">
                <a16:creationId xmlns:a16="http://schemas.microsoft.com/office/drawing/2014/main" id="{C0A5217B-FB89-919C-7A28-CE9864F17C02}"/>
              </a:ext>
            </a:extLst>
          </p:cNvPr>
          <p:cNvSpPr/>
          <p:nvPr/>
        </p:nvSpPr>
        <p:spPr>
          <a:xfrm>
            <a:off x="1745519" y="2931976"/>
            <a:ext cx="8700961" cy="2421902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959900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12A2A3-B942-1F6A-B9F3-D17DE9113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tangolo 12">
            <a:extLst>
              <a:ext uri="{FF2B5EF4-FFF2-40B4-BE49-F238E27FC236}">
                <a16:creationId xmlns:a16="http://schemas.microsoft.com/office/drawing/2014/main" id="{060C91C1-7C6A-AB01-CD32-E65F71BAF3C8}"/>
              </a:ext>
            </a:extLst>
          </p:cNvPr>
          <p:cNvSpPr/>
          <p:nvPr/>
        </p:nvSpPr>
        <p:spPr>
          <a:xfrm>
            <a:off x="368300" y="353641"/>
            <a:ext cx="11391900" cy="8240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pic>
        <p:nvPicPr>
          <p:cNvPr id="7" name="Immagine 6" descr="Immagine che contiene testo, diagramma, Carattere, schizzo&#10;&#10;Il contenuto generato dall'IA potrebbe non essere corretto.">
            <a:extLst>
              <a:ext uri="{FF2B5EF4-FFF2-40B4-BE49-F238E27FC236}">
                <a16:creationId xmlns:a16="http://schemas.microsoft.com/office/drawing/2014/main" id="{5161AA17-D670-637A-C17F-2AE209F5C1B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5079" t="1676" r="662" b="56036"/>
          <a:stretch>
            <a:fillRect/>
          </a:stretch>
        </p:blipFill>
        <p:spPr>
          <a:xfrm>
            <a:off x="10263074" y="272956"/>
            <a:ext cx="1723298" cy="985446"/>
          </a:xfrm>
          <a:prstGeom prst="rect">
            <a:avLst/>
          </a:prstGeom>
          <a:ln w="19050">
            <a:solidFill>
              <a:schemeClr val="tx2">
                <a:lumMod val="75000"/>
              </a:schemeClr>
            </a:solidFill>
          </a:ln>
        </p:spPr>
      </p:pic>
      <p:cxnSp>
        <p:nvCxnSpPr>
          <p:cNvPr id="9" name="Connettore dritto 8">
            <a:extLst>
              <a:ext uri="{FF2B5EF4-FFF2-40B4-BE49-F238E27FC236}">
                <a16:creationId xmlns:a16="http://schemas.microsoft.com/office/drawing/2014/main" id="{494A0905-7EE9-F0D4-4481-F9D651EB45C5}"/>
              </a:ext>
            </a:extLst>
          </p:cNvPr>
          <p:cNvCxnSpPr>
            <a:cxnSpLocks/>
          </p:cNvCxnSpPr>
          <p:nvPr/>
        </p:nvCxnSpPr>
        <p:spPr>
          <a:xfrm flipV="1">
            <a:off x="400050" y="6377357"/>
            <a:ext cx="11391900" cy="4012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BB990464-C60C-18A5-1E43-2E969995A319}"/>
              </a:ext>
            </a:extLst>
          </p:cNvPr>
          <p:cNvSpPr txBox="1"/>
          <p:nvPr/>
        </p:nvSpPr>
        <p:spPr>
          <a:xfrm>
            <a:off x="10796475" y="6439045"/>
            <a:ext cx="9637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</a:rPr>
              <a:t>9</a:t>
            </a:r>
            <a:r>
              <a:rPr lang="en-GB" noProof="0" dirty="0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</a:rPr>
              <a:t> </a:t>
            </a:r>
            <a:r>
              <a:rPr lang="en-GB" noProof="0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</a:rPr>
              <a:t>of 10</a:t>
            </a:r>
            <a:endParaRPr lang="en-GB" noProof="0" dirty="0">
              <a:solidFill>
                <a:schemeClr val="tx2">
                  <a:lumMod val="75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CFCA18F3-4164-DCF4-566E-4677795044C9}"/>
              </a:ext>
            </a:extLst>
          </p:cNvPr>
          <p:cNvSpPr txBox="1"/>
          <p:nvPr/>
        </p:nvSpPr>
        <p:spPr>
          <a:xfrm>
            <a:off x="368300" y="1339087"/>
            <a:ext cx="11528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noProof="0" dirty="0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</a:rPr>
              <a:t>S5 -&gt; S6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3C064CB5-657A-9920-18A9-D5025C8E83D0}"/>
              </a:ext>
            </a:extLst>
          </p:cNvPr>
          <p:cNvSpPr/>
          <p:nvPr/>
        </p:nvSpPr>
        <p:spPr>
          <a:xfrm>
            <a:off x="0" y="2295960"/>
            <a:ext cx="12192000" cy="3859824"/>
          </a:xfrm>
          <a:prstGeom prst="rect">
            <a:avLst/>
          </a:prstGeom>
          <a:solidFill>
            <a:srgbClr val="91C6F7">
              <a:alpha val="6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28" name="Titolo 1">
            <a:extLst>
              <a:ext uri="{FF2B5EF4-FFF2-40B4-BE49-F238E27FC236}">
                <a16:creationId xmlns:a16="http://schemas.microsoft.com/office/drawing/2014/main" id="{FF8CEEE5-20D2-635F-9A57-F9AD91B47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192272"/>
            <a:ext cx="10922002" cy="1158875"/>
          </a:xfrm>
        </p:spPr>
        <p:txBody>
          <a:bodyPr>
            <a:normAutofit/>
          </a:bodyPr>
          <a:lstStyle/>
          <a:p>
            <a:r>
              <a:rPr lang="en-GB" noProof="0" dirty="0">
                <a:solidFill>
                  <a:schemeClr val="bg1"/>
                </a:solidFill>
                <a:latin typeface="Bookman Old Style" panose="02050604050505020204" pitchFamily="18" charset="0"/>
              </a:rPr>
              <a:t>7. </a:t>
            </a:r>
            <a:r>
              <a:rPr lang="en-GB" dirty="0">
                <a:solidFill>
                  <a:schemeClr val="bg1"/>
                </a:solidFill>
                <a:latin typeface="Bookman Old Style" panose="02050604050505020204" pitchFamily="18" charset="0"/>
              </a:rPr>
              <a:t>FECG detection</a:t>
            </a:r>
            <a:endParaRPr lang="en-GB" noProof="0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  <p:pic>
        <p:nvPicPr>
          <p:cNvPr id="8" name="Immagine 7" descr="Immagine che contiene linea, Diagramma, diagramma, schermata&#10;&#10;Il contenuto generato dall'IA potrebbe non essere corretto.">
            <a:extLst>
              <a:ext uri="{FF2B5EF4-FFF2-40B4-BE49-F238E27FC236}">
                <a16:creationId xmlns:a16="http://schemas.microsoft.com/office/drawing/2014/main" id="{D19D46CC-CD0B-8BA9-97B1-2B22570B06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7912" y="2544524"/>
            <a:ext cx="7432675" cy="336269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2" name="CasellaDiTesto 11">
                <a:extLst>
                  <a:ext uri="{FF2B5EF4-FFF2-40B4-BE49-F238E27FC236}">
                    <a16:creationId xmlns:a16="http://schemas.microsoft.com/office/drawing/2014/main" id="{A652987F-1C12-1F60-4087-5022D84F72FA}"/>
                  </a:ext>
                </a:extLst>
              </p:cNvPr>
              <p:cNvSpPr txBox="1"/>
              <p:nvPr/>
            </p:nvSpPr>
            <p:spPr>
              <a:xfrm>
                <a:off x="1159011" y="1687197"/>
                <a:ext cx="10280376" cy="5395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2400" i="1" dirty="0">
                    <a:solidFill>
                      <a:schemeClr val="tx2">
                        <a:lumMod val="75000"/>
                      </a:schemeClr>
                    </a:solidFill>
                    <a:latin typeface="Bookman Old Style" panose="02050604050505020204" pitchFamily="18" charset="0"/>
                  </a:rPr>
                  <a:t>N</a:t>
                </a:r>
                <a:r>
                  <a:rPr lang="en-GB" sz="2400" i="1" baseline="-25000" dirty="0">
                    <a:solidFill>
                      <a:schemeClr val="tx2">
                        <a:lumMod val="75000"/>
                      </a:schemeClr>
                    </a:solidFill>
                    <a:latin typeface="Bookman Old Style" panose="02050604050505020204" pitchFamily="18" charset="0"/>
                  </a:rPr>
                  <a:t>av</a:t>
                </a:r>
                <a:r>
                  <a:rPr lang="en-GB" sz="2400" dirty="0">
                    <a:solidFill>
                      <a:schemeClr val="tx2">
                        <a:lumMod val="75000"/>
                      </a:schemeClr>
                    </a:solidFill>
                    <a:latin typeface="Bookman Old Style" panose="02050604050505020204" pitchFamily="18" charset="0"/>
                  </a:rPr>
                  <a:t> = 150	=&gt;	SNR increase by a factor of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GB" sz="2400" i="1" smtClean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lang="en-GB" sz="2400" i="1" smtClean="0">
                                <a:solidFill>
                                  <a:schemeClr val="tx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2400" b="0" i="1" smtClean="0">
                                <a:solidFill>
                                  <a:schemeClr val="tx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it-IT" sz="2400" b="0" i="1" smtClean="0">
                                <a:solidFill>
                                  <a:schemeClr val="tx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𝑎𝑣</m:t>
                            </m:r>
                          </m:sub>
                        </m:sSub>
                      </m:e>
                    </m:rad>
                  </m:oMath>
                </a14:m>
                <a:r>
                  <a:rPr lang="en-GB" sz="2400" dirty="0">
                    <a:solidFill>
                      <a:schemeClr val="tx2">
                        <a:lumMod val="75000"/>
                      </a:schemeClr>
                    </a:solidFill>
                    <a:latin typeface="Bookman Old Style" panose="02050604050505020204" pitchFamily="18" charset="0"/>
                  </a:rPr>
                  <a:t> = 12</a:t>
                </a:r>
              </a:p>
            </p:txBody>
          </p:sp>
        </mc:Choice>
        <mc:Fallback>
          <p:sp>
            <p:nvSpPr>
              <p:cNvPr id="12" name="CasellaDiTesto 11">
                <a:extLst>
                  <a:ext uri="{FF2B5EF4-FFF2-40B4-BE49-F238E27FC236}">
                    <a16:creationId xmlns:a16="http://schemas.microsoft.com/office/drawing/2014/main" id="{A652987F-1C12-1F60-4087-5022D84F72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9011" y="1687197"/>
                <a:ext cx="10280376" cy="539571"/>
              </a:xfrm>
              <a:prstGeom prst="rect">
                <a:avLst/>
              </a:prstGeom>
              <a:blipFill>
                <a:blip r:embed="rId5"/>
                <a:stretch>
                  <a:fillRect b="-20455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15448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26398D-2206-2F13-A48C-EF18C0BD0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ttangolo 18">
            <a:extLst>
              <a:ext uri="{FF2B5EF4-FFF2-40B4-BE49-F238E27FC236}">
                <a16:creationId xmlns:a16="http://schemas.microsoft.com/office/drawing/2014/main" id="{0BE8C62C-067D-325E-6E37-86DA5B7C686D}"/>
              </a:ext>
            </a:extLst>
          </p:cNvPr>
          <p:cNvSpPr/>
          <p:nvPr/>
        </p:nvSpPr>
        <p:spPr>
          <a:xfrm>
            <a:off x="6032500" y="3864252"/>
            <a:ext cx="5664199" cy="2102967"/>
          </a:xfrm>
          <a:prstGeom prst="rect">
            <a:avLst/>
          </a:prstGeom>
          <a:solidFill>
            <a:srgbClr val="91C6F7">
              <a:alpha val="6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F49ADD30-B1E2-7947-0AED-EC01A407035C}"/>
              </a:ext>
            </a:extLst>
          </p:cNvPr>
          <p:cNvSpPr/>
          <p:nvPr/>
        </p:nvSpPr>
        <p:spPr>
          <a:xfrm>
            <a:off x="368300" y="353641"/>
            <a:ext cx="11391900" cy="8240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cxnSp>
        <p:nvCxnSpPr>
          <p:cNvPr id="9" name="Connettore dritto 8">
            <a:extLst>
              <a:ext uri="{FF2B5EF4-FFF2-40B4-BE49-F238E27FC236}">
                <a16:creationId xmlns:a16="http://schemas.microsoft.com/office/drawing/2014/main" id="{A0FAC5B7-4B81-AC0C-8A12-F44626AC4885}"/>
              </a:ext>
            </a:extLst>
          </p:cNvPr>
          <p:cNvCxnSpPr>
            <a:cxnSpLocks/>
          </p:cNvCxnSpPr>
          <p:nvPr/>
        </p:nvCxnSpPr>
        <p:spPr>
          <a:xfrm flipV="1">
            <a:off x="400050" y="6377357"/>
            <a:ext cx="11391900" cy="4012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6D874F74-3941-1324-5F18-B86A0E483CBD}"/>
              </a:ext>
            </a:extLst>
          </p:cNvPr>
          <p:cNvSpPr txBox="1"/>
          <p:nvPr/>
        </p:nvSpPr>
        <p:spPr>
          <a:xfrm>
            <a:off x="10796475" y="6439045"/>
            <a:ext cx="11063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noProof="0" dirty="0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</a:rPr>
              <a:t>10 of 10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7FC684E3-AD67-9F9E-E7CB-D19935ADA99F}"/>
              </a:ext>
            </a:extLst>
          </p:cNvPr>
          <p:cNvSpPr/>
          <p:nvPr/>
        </p:nvSpPr>
        <p:spPr>
          <a:xfrm>
            <a:off x="400050" y="1587856"/>
            <a:ext cx="5295899" cy="4379363"/>
          </a:xfrm>
          <a:prstGeom prst="rect">
            <a:avLst/>
          </a:prstGeom>
          <a:solidFill>
            <a:srgbClr val="91C6F7">
              <a:alpha val="6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28" name="Titolo 1">
            <a:extLst>
              <a:ext uri="{FF2B5EF4-FFF2-40B4-BE49-F238E27FC236}">
                <a16:creationId xmlns:a16="http://schemas.microsoft.com/office/drawing/2014/main" id="{182B851F-9657-D5AD-4410-85A07EF65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192272"/>
            <a:ext cx="10922002" cy="1158875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bg1"/>
                </a:solidFill>
                <a:latin typeface="Bookman Old Style" panose="02050604050505020204" pitchFamily="18" charset="0"/>
              </a:rPr>
              <a:t>Performance metrics and results</a:t>
            </a:r>
            <a:endParaRPr lang="en-GB" noProof="0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B46C9128-227C-BF29-30A2-64B069DEF78A}"/>
              </a:ext>
            </a:extLst>
          </p:cNvPr>
          <p:cNvSpPr/>
          <p:nvPr/>
        </p:nvSpPr>
        <p:spPr>
          <a:xfrm>
            <a:off x="6064250" y="1587856"/>
            <a:ext cx="5664199" cy="2102967"/>
          </a:xfrm>
          <a:prstGeom prst="rect">
            <a:avLst/>
          </a:prstGeom>
          <a:solidFill>
            <a:srgbClr val="91C6F7">
              <a:alpha val="6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F744E8F7-2E79-3018-A1D3-20227ED9136B}"/>
              </a:ext>
            </a:extLst>
          </p:cNvPr>
          <p:cNvSpPr txBox="1"/>
          <p:nvPr/>
        </p:nvSpPr>
        <p:spPr>
          <a:xfrm>
            <a:off x="714668" y="1715969"/>
            <a:ext cx="46666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noProof="0" dirty="0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</a:rPr>
              <a:t>FQRS detection performances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DBA65922-94AA-4F9F-93E3-EE8333E36E64}"/>
              </a:ext>
            </a:extLst>
          </p:cNvPr>
          <p:cNvSpPr txBox="1"/>
          <p:nvPr/>
        </p:nvSpPr>
        <p:spPr>
          <a:xfrm>
            <a:off x="8089075" y="1715969"/>
            <a:ext cx="16145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noProof="0" dirty="0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</a:rPr>
              <a:t>Signal S1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D6B7DD46-16C6-ED7D-D1D8-B215B0C8B5AE}"/>
              </a:ext>
            </a:extLst>
          </p:cNvPr>
          <p:cNvSpPr txBox="1"/>
          <p:nvPr/>
        </p:nvSpPr>
        <p:spPr>
          <a:xfrm>
            <a:off x="8057326" y="4047670"/>
            <a:ext cx="16145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noProof="0" dirty="0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</a:rPr>
              <a:t>Signal S5</a:t>
            </a:r>
          </a:p>
        </p:txBody>
      </p:sp>
      <p:pic>
        <p:nvPicPr>
          <p:cNvPr id="7" name="Immagine 6" descr="Immagine che contiene testo, schermata, Carattere, numero&#10;&#10;Il contenuto generato dall'IA potrebbe non essere corretto.">
            <a:extLst>
              <a:ext uri="{FF2B5EF4-FFF2-40B4-BE49-F238E27FC236}">
                <a16:creationId xmlns:a16="http://schemas.microsoft.com/office/drawing/2014/main" id="{3FC607C7-3E8B-9F0A-9EFF-DF88B3956E8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1253" y="2477833"/>
            <a:ext cx="4098247" cy="3139674"/>
          </a:xfrm>
          <a:prstGeom prst="rect">
            <a:avLst/>
          </a:prstGeom>
        </p:spPr>
      </p:pic>
      <p:pic>
        <p:nvPicPr>
          <p:cNvPr id="2" name="S1_ECG1_sonified_a14_cut.wav">
            <a:hlinkClick r:id="" action="ppaction://media"/>
            <a:extLst>
              <a:ext uri="{FF2B5EF4-FFF2-40B4-BE49-F238E27FC236}">
                <a16:creationId xmlns:a16="http://schemas.microsoft.com/office/drawing/2014/main" id="{F014B7FB-4142-4B07-9E1B-B9A5801BB5A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8489947" y="2351063"/>
            <a:ext cx="812800" cy="812800"/>
          </a:xfrm>
          <a:prstGeom prst="rect">
            <a:avLst/>
          </a:prstGeom>
        </p:spPr>
      </p:pic>
      <p:pic>
        <p:nvPicPr>
          <p:cNvPr id="4" name="S5_FECG_sonified_a14_cut.wav">
            <a:hlinkClick r:id="" action="ppaction://media"/>
            <a:extLst>
              <a:ext uri="{FF2B5EF4-FFF2-40B4-BE49-F238E27FC236}">
                <a16:creationId xmlns:a16="http://schemas.microsoft.com/office/drawing/2014/main" id="{98440238-BF73-F0DD-ACFD-80C93A29D38B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8489947" y="470173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111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143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546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26398D-2206-2F13-A48C-EF18C0BD0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tangolo 12">
            <a:extLst>
              <a:ext uri="{FF2B5EF4-FFF2-40B4-BE49-F238E27FC236}">
                <a16:creationId xmlns:a16="http://schemas.microsoft.com/office/drawing/2014/main" id="{F49ADD30-B1E2-7947-0AED-EC01A407035C}"/>
              </a:ext>
            </a:extLst>
          </p:cNvPr>
          <p:cNvSpPr/>
          <p:nvPr/>
        </p:nvSpPr>
        <p:spPr>
          <a:xfrm>
            <a:off x="368300" y="353641"/>
            <a:ext cx="11391900" cy="8240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cxnSp>
        <p:nvCxnSpPr>
          <p:cNvPr id="9" name="Connettore dritto 8">
            <a:extLst>
              <a:ext uri="{FF2B5EF4-FFF2-40B4-BE49-F238E27FC236}">
                <a16:creationId xmlns:a16="http://schemas.microsoft.com/office/drawing/2014/main" id="{A0FAC5B7-4B81-AC0C-8A12-F44626AC4885}"/>
              </a:ext>
            </a:extLst>
          </p:cNvPr>
          <p:cNvCxnSpPr>
            <a:cxnSpLocks/>
          </p:cNvCxnSpPr>
          <p:nvPr/>
        </p:nvCxnSpPr>
        <p:spPr>
          <a:xfrm flipV="1">
            <a:off x="400050" y="6377357"/>
            <a:ext cx="11391900" cy="4012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6D874F74-3941-1324-5F18-B86A0E483CBD}"/>
              </a:ext>
            </a:extLst>
          </p:cNvPr>
          <p:cNvSpPr txBox="1"/>
          <p:nvPr/>
        </p:nvSpPr>
        <p:spPr>
          <a:xfrm>
            <a:off x="10796475" y="6439045"/>
            <a:ext cx="11063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noProof="0" dirty="0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</a:rPr>
              <a:t>10 of 10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7FC684E3-AD67-9F9E-E7CB-D19935ADA99F}"/>
              </a:ext>
            </a:extLst>
          </p:cNvPr>
          <p:cNvSpPr/>
          <p:nvPr/>
        </p:nvSpPr>
        <p:spPr>
          <a:xfrm>
            <a:off x="400050" y="1587856"/>
            <a:ext cx="11360150" cy="4379363"/>
          </a:xfrm>
          <a:prstGeom prst="rect">
            <a:avLst/>
          </a:prstGeom>
          <a:solidFill>
            <a:srgbClr val="91C6F7">
              <a:alpha val="6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28" name="Titolo 1">
            <a:extLst>
              <a:ext uri="{FF2B5EF4-FFF2-40B4-BE49-F238E27FC236}">
                <a16:creationId xmlns:a16="http://schemas.microsoft.com/office/drawing/2014/main" id="{182B851F-9657-D5AD-4410-85A07EF65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192272"/>
            <a:ext cx="10922002" cy="1158875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bg1"/>
                </a:solidFill>
                <a:latin typeface="Bookman Old Style" panose="02050604050505020204" pitchFamily="18" charset="0"/>
              </a:rPr>
              <a:t>Performance metrics and results</a:t>
            </a:r>
            <a:endParaRPr lang="en-GB" noProof="0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  <p:graphicFrame>
        <p:nvGraphicFramePr>
          <p:cNvPr id="6" name="Tabella 5">
            <a:extLst>
              <a:ext uri="{FF2B5EF4-FFF2-40B4-BE49-F238E27FC236}">
                <a16:creationId xmlns:a16="http://schemas.microsoft.com/office/drawing/2014/main" id="{1EF21294-8A43-FC93-B3E5-96F1D69169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0686302"/>
              </p:ext>
            </p:extLst>
          </p:nvPr>
        </p:nvGraphicFramePr>
        <p:xfrm>
          <a:off x="629770" y="2547051"/>
          <a:ext cx="10932459" cy="2723093"/>
        </p:xfrm>
        <a:graphic>
          <a:graphicData uri="http://schemas.openxmlformats.org/drawingml/2006/table">
            <a:tbl>
              <a:tblPr>
                <a:noFill/>
                <a:tableStyleId>{616DA210-FB5B-4158-B5E0-FEB733F419BA}</a:tableStyleId>
              </a:tblPr>
              <a:tblGrid>
                <a:gridCol w="2446452">
                  <a:extLst>
                    <a:ext uri="{9D8B030D-6E8A-4147-A177-3AD203B41FA5}">
                      <a16:colId xmlns:a16="http://schemas.microsoft.com/office/drawing/2014/main" val="1284628392"/>
                    </a:ext>
                  </a:extLst>
                </a:gridCol>
                <a:gridCol w="3032478">
                  <a:extLst>
                    <a:ext uri="{9D8B030D-6E8A-4147-A177-3AD203B41FA5}">
                      <a16:colId xmlns:a16="http://schemas.microsoft.com/office/drawing/2014/main" val="3437951934"/>
                    </a:ext>
                  </a:extLst>
                </a:gridCol>
                <a:gridCol w="2705100">
                  <a:extLst>
                    <a:ext uri="{9D8B030D-6E8A-4147-A177-3AD203B41FA5}">
                      <a16:colId xmlns:a16="http://schemas.microsoft.com/office/drawing/2014/main" val="1279379119"/>
                    </a:ext>
                  </a:extLst>
                </a:gridCol>
                <a:gridCol w="2748429">
                  <a:extLst>
                    <a:ext uri="{9D8B030D-6E8A-4147-A177-3AD203B41FA5}">
                      <a16:colId xmlns:a16="http://schemas.microsoft.com/office/drawing/2014/main" val="572450525"/>
                    </a:ext>
                  </a:extLst>
                </a:gridCol>
              </a:tblGrid>
              <a:tr h="1308448">
                <a:tc>
                  <a:txBody>
                    <a:bodyPr/>
                    <a:lstStyle/>
                    <a:p>
                      <a:pPr algn="ctr" fontAlgn="b">
                        <a:lnSpc>
                          <a:spcPct val="100000"/>
                        </a:lnSpc>
                        <a:buNone/>
                      </a:pPr>
                      <a:r>
                        <a:rPr lang="it-IT" sz="2800" u="none" strike="noStrike" dirty="0">
                          <a:effectLst/>
                          <a:latin typeface="Bookman Old Style" panose="02050604050505020204" pitchFamily="18" charset="0"/>
                        </a:rPr>
                        <a:t>Sensitivity</a:t>
                      </a:r>
                      <a:endParaRPr lang="it-IT" sz="2800" b="0" i="0" u="none" strike="noStrike" dirty="0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00000"/>
                        </a:lnSpc>
                        <a:buNone/>
                      </a:pPr>
                      <a:r>
                        <a:rPr lang="it-IT" sz="2800" u="none" strike="noStrike" dirty="0">
                          <a:effectLst/>
                          <a:latin typeface="Bookman Old Style" panose="02050604050505020204" pitchFamily="18" charset="0"/>
                        </a:rPr>
                        <a:t>FHR Reliability</a:t>
                      </a:r>
                      <a:endParaRPr lang="it-IT" sz="2800" b="0" i="0" u="none" strike="noStrike" dirty="0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00000"/>
                        </a:lnSpc>
                        <a:buNone/>
                      </a:pPr>
                      <a:r>
                        <a:rPr lang="it-IT" sz="2800" u="none" strike="noStrike" dirty="0">
                          <a:effectLst/>
                          <a:latin typeface="Bookman Old Style" panose="02050604050505020204" pitchFamily="18" charset="0"/>
                        </a:rPr>
                        <a:t>F1</a:t>
                      </a:r>
                      <a:endParaRPr lang="it-IT" sz="2800" b="0" i="0" u="none" strike="noStrike" dirty="0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00000"/>
                        </a:lnSpc>
                        <a:buNone/>
                      </a:pPr>
                      <a:r>
                        <a:rPr lang="it-IT" sz="2800" u="none" strike="noStrike" dirty="0" err="1">
                          <a:effectLst/>
                          <a:latin typeface="Bookman Old Style" panose="02050604050505020204" pitchFamily="18" charset="0"/>
                        </a:rPr>
                        <a:t>Accuracy</a:t>
                      </a:r>
                      <a:endParaRPr lang="it-IT" sz="2800" b="0" i="0" u="none" strike="noStrike" dirty="0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1369642"/>
                  </a:ext>
                </a:extLst>
              </a:tr>
              <a:tr h="1414645">
                <a:tc>
                  <a:txBody>
                    <a:bodyPr/>
                    <a:lstStyle/>
                    <a:p>
                      <a:pPr algn="ctr" fontAlgn="b">
                        <a:lnSpc>
                          <a:spcPct val="100000"/>
                        </a:lnSpc>
                        <a:buNone/>
                      </a:pPr>
                      <a:r>
                        <a:rPr lang="it-IT" sz="3200" u="none" strike="noStrike" dirty="0">
                          <a:effectLst/>
                          <a:latin typeface="Bookman Old Style" panose="02050604050505020204" pitchFamily="18" charset="0"/>
                        </a:rPr>
                        <a:t>40,62196</a:t>
                      </a:r>
                      <a:endParaRPr lang="it-IT" sz="3200" b="1" i="0" u="none" strike="noStrike" dirty="0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3200" b="1" i="0" u="none" strike="noStrike">
                          <a:solidFill>
                            <a:srgbClr val="000000"/>
                          </a:solidFill>
                          <a:effectLst/>
                          <a:latin typeface="Bookman Old Style" panose="02050604050505020204" pitchFamily="18" charset="0"/>
                        </a:rPr>
                        <a:t>55,493%</a:t>
                      </a:r>
                      <a:endParaRPr lang="it-IT" sz="1200" b="1" i="0" u="none" strike="noStrike" dirty="0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00000"/>
                        </a:lnSpc>
                        <a:buNone/>
                      </a:pPr>
                      <a:r>
                        <a:rPr lang="it-IT" sz="3200" u="none" strike="noStrike" dirty="0">
                          <a:effectLst/>
                          <a:latin typeface="Bookman Old Style" panose="02050604050505020204" pitchFamily="18" charset="0"/>
                        </a:rPr>
                        <a:t>0,64572</a:t>
                      </a:r>
                      <a:endParaRPr lang="it-IT" sz="3200" b="1" i="0" u="none" strike="noStrike" dirty="0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00000"/>
                        </a:lnSpc>
                        <a:buNone/>
                      </a:pPr>
                      <a:r>
                        <a:rPr lang="it-IT" sz="3200" b="1" u="none" strike="noStrike" dirty="0">
                          <a:effectLst/>
                          <a:latin typeface="Bookman Old Style" panose="02050604050505020204" pitchFamily="18" charset="0"/>
                        </a:rPr>
                        <a:t>55,744%</a:t>
                      </a:r>
                      <a:endParaRPr lang="it-IT" sz="3200" b="1" i="0" u="none" strike="noStrike" dirty="0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9073108"/>
                  </a:ext>
                </a:extLst>
              </a:tr>
            </a:tbl>
          </a:graphicData>
        </a:graphic>
      </p:graphicFrame>
      <p:sp>
        <p:nvSpPr>
          <p:cNvPr id="8" name="CasellaDiTesto 7">
            <a:extLst>
              <a:ext uri="{FF2B5EF4-FFF2-40B4-BE49-F238E27FC236}">
                <a16:creationId xmlns:a16="http://schemas.microsoft.com/office/drawing/2014/main" id="{F840263F-63B2-1663-4B13-132819A92ECF}"/>
              </a:ext>
            </a:extLst>
          </p:cNvPr>
          <p:cNvSpPr txBox="1"/>
          <p:nvPr/>
        </p:nvSpPr>
        <p:spPr>
          <a:xfrm>
            <a:off x="704398" y="1736199"/>
            <a:ext cx="55948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noProof="0" dirty="0">
                <a:solidFill>
                  <a:schemeClr val="tx2">
                    <a:lumMod val="75000"/>
                  </a:schemeClr>
                </a:solidFill>
                <a:latin typeface="Bookman Old Style" panose="02050604050505020204" pitchFamily="18" charset="0"/>
              </a:rPr>
              <a:t>FQRS detection mean performances</a:t>
            </a:r>
          </a:p>
        </p:txBody>
      </p:sp>
    </p:spTree>
    <p:extLst>
      <p:ext uri="{BB962C8B-B14F-4D97-AF65-F5344CB8AC3E}">
        <p14:creationId xmlns:p14="http://schemas.microsoft.com/office/powerpoint/2010/main" val="31646091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A63E6E-BB1B-2C8F-C429-6370A2511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ELETTROCARDIOGRAMMA - Farmacia Panteghini">
            <a:extLst>
              <a:ext uri="{FF2B5EF4-FFF2-40B4-BE49-F238E27FC236}">
                <a16:creationId xmlns:a16="http://schemas.microsoft.com/office/drawing/2014/main" id="{827B8698-C4D4-774A-2188-BDD8423A58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1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ttangolo 5">
            <a:extLst>
              <a:ext uri="{FF2B5EF4-FFF2-40B4-BE49-F238E27FC236}">
                <a16:creationId xmlns:a16="http://schemas.microsoft.com/office/drawing/2014/main" id="{5EECFB81-428A-6735-E4FE-62E926DC358E}"/>
              </a:ext>
            </a:extLst>
          </p:cNvPr>
          <p:cNvSpPr/>
          <p:nvPr/>
        </p:nvSpPr>
        <p:spPr>
          <a:xfrm>
            <a:off x="400048" y="3808124"/>
            <a:ext cx="11391900" cy="719468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1E82D718-513D-2FCB-5217-769044706A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8" y="2244569"/>
            <a:ext cx="9144000" cy="1184431"/>
          </a:xfrm>
        </p:spPr>
        <p:txBody>
          <a:bodyPr>
            <a:normAutofit fontScale="90000"/>
          </a:bodyPr>
          <a:lstStyle/>
          <a:p>
            <a:r>
              <a:rPr lang="en-GB" sz="8000" i="1" noProof="0" dirty="0">
                <a:solidFill>
                  <a:schemeClr val="bg2">
                    <a:lumMod val="25000"/>
                  </a:schemeClr>
                </a:solidFill>
                <a:latin typeface="Bookman Old Style" panose="02050604050505020204" pitchFamily="18" charset="0"/>
              </a:rPr>
              <a:t>Thank you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36CCE0DD-B7F6-1E68-A09A-F3A601C766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7" y="3990748"/>
            <a:ext cx="9144000" cy="536844"/>
          </a:xfrm>
        </p:spPr>
        <p:txBody>
          <a:bodyPr/>
          <a:lstStyle/>
          <a:p>
            <a:r>
              <a:rPr lang="en-GB" noProof="0" dirty="0">
                <a:solidFill>
                  <a:schemeClr val="bg1"/>
                </a:solidFill>
                <a:latin typeface="Bookman Old Style" panose="02050604050505020204" pitchFamily="18" charset="0"/>
              </a:rPr>
              <a:t>Marta Stefanelli – 84393A</a:t>
            </a:r>
          </a:p>
        </p:txBody>
      </p:sp>
    </p:spTree>
    <p:extLst>
      <p:ext uri="{BB962C8B-B14F-4D97-AF65-F5344CB8AC3E}">
        <p14:creationId xmlns:p14="http://schemas.microsoft.com/office/powerpoint/2010/main" val="50618710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Blu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2504</TotalTime>
  <Words>416</Words>
  <Application>Microsoft Macintosh PowerPoint</Application>
  <PresentationFormat>Widescreen</PresentationFormat>
  <Paragraphs>101</Paragraphs>
  <Slides>14</Slides>
  <Notes>9</Notes>
  <HiddenSlides>0</HiddenSlides>
  <MMClips>2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14</vt:i4>
      </vt:variant>
    </vt:vector>
  </HeadingPairs>
  <TitlesOfParts>
    <vt:vector size="20" baseType="lpstr">
      <vt:lpstr>Aptos</vt:lpstr>
      <vt:lpstr>Aptos Display</vt:lpstr>
      <vt:lpstr>Arial</vt:lpstr>
      <vt:lpstr>Bookman Old Style</vt:lpstr>
      <vt:lpstr>Cambria Math</vt:lpstr>
      <vt:lpstr>Tema di Office</vt:lpstr>
      <vt:lpstr>A robust fetal ECG detection method for abdominal recordings</vt:lpstr>
      <vt:lpstr>The dataset</vt:lpstr>
      <vt:lpstr>The paper</vt:lpstr>
      <vt:lpstr>1. Baseline wander removal </vt:lpstr>
      <vt:lpstr>2. Power line interference canceller</vt:lpstr>
      <vt:lpstr>3. Upsampling</vt:lpstr>
      <vt:lpstr>4. MQRS detection</vt:lpstr>
      <vt:lpstr>5. MECG canceller</vt:lpstr>
      <vt:lpstr>6. FQRS detection</vt:lpstr>
      <vt:lpstr>6. FQRS detection</vt:lpstr>
      <vt:lpstr>7. FECG detection</vt:lpstr>
      <vt:lpstr>Performance metrics and results</vt:lpstr>
      <vt:lpstr>Performance metrics and results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Marta Stefanelli</dc:creator>
  <cp:lastModifiedBy>Marta Stefanelli</cp:lastModifiedBy>
  <cp:revision>99</cp:revision>
  <dcterms:created xsi:type="dcterms:W3CDTF">2025-12-04T13:01:30Z</dcterms:created>
  <dcterms:modified xsi:type="dcterms:W3CDTF">2026-01-04T12:04:06Z</dcterms:modified>
</cp:coreProperties>
</file>